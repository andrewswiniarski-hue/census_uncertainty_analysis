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6"/>
    <p:sldId id="266" r:id="rId17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meeting: two-week update, three things to show, three questions to ask. Since kickoff we finished the entire Phase 1 exploration checklist: five analysis notebooks, eight charts, every data pull scripted and rerunnable by anyone with a free API key. One slide of status, then questions — the rest of the deck is backup material if discussion goes deep.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is the story: relative noise vs. place size, on log scales. Blue/orange series are privacy noise measured from the Bureau's own 2010 demonstration data vs. published 2010 counts. The two dotted guides are the two laws — sampling noise falls like 1/√N (shallow), privacy noise like ~1/N (steep, a fixed absolute cost). Our measured series track the steep guide. Practical reading: for total population, privacy noise matters only below ~60-person blocks; at tract/county scale it is negligible. Caveats we always state: demonstration data is evaluation-only, and the 2010 published baseline contains swapping noise, so differences are DAS + residual swapping. Also visible: same-size block groups sit ~12× above tracts — that's question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1 gates everything downstream — we need the shortlist and vintage locked to start the scoring phase. Question 2 is our genuine discovery: noise depends on WHERE the privacy budget is spent, not just place size; if confirmed, geography level becomes its own component in the score. Question 3 shapes the score's design inputs. If time is short, get answers to 1 and 2 and take 3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distribution of relative noise (CV) for median household income at three geography levels. Emphasize: the whole project premise in one chart — uncertainty is invisible in the published tables but large and systematic. If asked about the gray exclusions: top-coded incomes ($250,001) are censored values and excluded, documented in the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mechanism slide: CV vs estimate size on log axes, slope −½ confirmed (population −0.47, Black 65+ aggregate −0.51). This established the sampling law that the privacy-noise law is contrasted against on the status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Dashboard-direction evidence: this is what a non-technical decision-maker would consume. Spatial pattern: unreliable tracts cluster in low-population and high-variance areas. The choropleth uses classed tiers (not continuous ramps) deliberately — tier boundaries will be a mentor-reviewed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mentors ask about equity implications: privacy noise is proportionally hardest on small subgroups in small places, and the ghost/vanished-block artifact (807 blocks gain phantom residents, 427 lose all) matters for block-level uses like redistricting. All caveats as before: demonstration data, evaluation only, baseline includes swapping.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empirical justification for the multi-component score design (research question 2). Prevalence headline: ~39% of households at the median tract had some income imputed, vs under 1% for age/race. The family-poverty panel is a labeled proxy — no person-level poverty allocation table exists (poverty is derived from income).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canonical list lives in the repo README under 'Open Questions for Mentors' with dates and notebook references. Items 1–4 are the priority; 5–7 as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EDA 06 blind-spot matrix. Blind spot = 481/2,109 classified tracts (22.8%), the visually dominant gold quadrant with an on-chart callout. Equal-weight vs worst-component agree on only 84.6% of top-risk-quartile membership, so combination rules matter: do not claim locked tiers. Poverty/Black 65+ are labeled robustness cases only. No DHC privacy join into ACS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EDA 07 resolves the JL Final Takeaway: place pop is not the CV driver, estimate size is. Chart is now a single R2 waterfall labeled by variable added; dropped the population-vs-CV scatter panel per lead feedback since it wasn't adding insight beyond the waterfall. Matched-size panel (if asked): Black 65+ is still noisier than population at similar counts (about 0.28 vs 0.17 median CV). Composite V2's optional cv_residual_high flag is a seed for counts, not a locked score component.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MSBA CAPSTONE  </a:t>
            </a:r>
            <a:pPr indent="0" marL="0">
              <a:buNone/>
            </a:pPr>
            <a:r>
              <a:rPr lang="en-US" sz="1300" b="1" spc="3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U.S. CENSUS BUREAU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Census Uncertainty Analytics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246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Biweekly check-in #1 — Phase 1 exploration complete: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sources of uncertainty measured empirically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22, 2026   ·   Andrew Swiniarski   ·   New Jersey testbed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 ·  PHASE 1 COMPLETE  ·  JULY 22, 2026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three sources of noise are now measured — and they follow different laws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114800" cy="1517904"/>
          </a:xfrm>
          <a:prstGeom prst="roundRect">
            <a:avLst>
              <a:gd name="adj" fmla="val 4217"/>
            </a:avLst>
          </a:prstGeom>
          <a:solidFill>
            <a:srgbClr val="EFF3F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58191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61872" y="1563624"/>
            <a:ext cx="32186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noise obeys a size law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 relative noise grows predictably as places shrink (log-log slope −½, confirmed across 8,800 NJ geographies). Lawful noise is scoreable noise.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81528"/>
            <a:ext cx="4114800" cy="1517904"/>
          </a:xfrm>
          <a:prstGeom prst="roundRect">
            <a:avLst>
              <a:gd name="adj" fmla="val 4217"/>
            </a:avLst>
          </a:prstGeom>
          <a:solidFill>
            <a:srgbClr val="EFF3FA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32461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61872" y="3227832"/>
            <a:ext cx="32186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noise is a fixed absolute cost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2020 privacy system adds roughly constant noise per place (slope ≈ −1): invisible at county scale (±2–5 people), dominant below ~60-person blocks. A different law than sampling — see chart.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745736"/>
            <a:ext cx="4114800" cy="1517904"/>
          </a:xfrm>
          <a:prstGeom prst="roundRect">
            <a:avLst>
              <a:gd name="adj" fmla="val 4217"/>
            </a:avLst>
          </a:prstGeom>
          <a:solidFill>
            <a:srgbClr val="EFF3FA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49103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61872" y="4892040"/>
            <a:ext cx="32186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is the axis error bars can't see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median tract, ~39% of households had income imputed — yet allocation rates are statistically independent of margins of error. A multi-component reliability score isn't a preference; the data requires it.</a:t>
            </a:r>
            <a:endParaRPr lang="en-US" sz="1300" dirty="0"/>
          </a:p>
        </p:txBody>
      </p:sp>
      <p:pic>
        <p:nvPicPr>
          <p:cNvPr id="13" name="Image 0" descr="C:/Users/andre/Documents/Census-Analytics/data/processed/eda04_noise_rmse_by_si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4608" y="1773724"/>
            <a:ext cx="6766560" cy="413351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notebooks · 8 charts · fully reproducible — github.com/andrewswiniarski-hue/Census_Uncertainty_Analysis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YOU TODAY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questions only the Bureau can answer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1417320"/>
          </a:xfrm>
          <a:prstGeom prst="roundRect">
            <a:avLst>
              <a:gd name="adj" fmla="val 4516"/>
            </a:avLst>
          </a:prstGeom>
          <a:solidFill>
            <a:srgbClr val="EFF3F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384048" cy="384048"/>
          </a:xfrm>
          <a:prstGeom prst="ellipse">
            <a:avLst/>
          </a:prstGeom>
          <a:solidFill>
            <a:srgbClr val="E860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25880" y="1627632"/>
            <a:ext cx="1004011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scope: products and privacy-noise vintage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3–5 product shortlist right (ACS 5-year, Decennial DHC, …)? And is the 2022-08-25 DHC demonstration release the right basis for privacy-noise analysis, or should we move to the 2023 production-settings microdata?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044952"/>
            <a:ext cx="11091672" cy="1417320"/>
          </a:xfrm>
          <a:prstGeom prst="roundRect">
            <a:avLst>
              <a:gd name="adj" fmla="val 4516"/>
            </a:avLst>
          </a:prstGeom>
          <a:solidFill>
            <a:srgbClr val="FDEEE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27832"/>
            <a:ext cx="384048" cy="384048"/>
          </a:xfrm>
          <a:prstGeom prst="ellipse">
            <a:avLst/>
          </a:prstGeom>
          <a:solidFill>
            <a:srgbClr val="E860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3209544"/>
            <a:ext cx="1004011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block-group anomaly — is our reading right?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demonstration data, NJ block groups carry ~9× the absolute total-population noise of tracts (a same-size block group is ~12× noisier). We suspect privacy-budget allocation along the geographic spine, with tabulation block groups assembled off-spine. Is that correct — and will production 2020 DHC behave the same way?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626864"/>
            <a:ext cx="11091672" cy="1417320"/>
          </a:xfrm>
          <a:prstGeom prst="roundRect">
            <a:avLst>
              <a:gd name="adj" fmla="val 4516"/>
            </a:avLst>
          </a:prstGeom>
          <a:solidFill>
            <a:srgbClr val="EFF3F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809744"/>
            <a:ext cx="384048" cy="384048"/>
          </a:xfrm>
          <a:prstGeom prst="ellipse">
            <a:avLst/>
          </a:prstGeom>
          <a:solidFill>
            <a:srgbClr val="E860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4791456"/>
            <a:ext cx="1004011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reliability score consume?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privacy component: the published ε allocations, or the noise we measured empirically? For imputation: is the one nonzero signal we found (income allocation vs. income CV, ρ ≈ +0.19 after size control) a known mechanism, or small enough to ignore?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open-questions list (seven items) in the backup slides.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—  SAMPLING NOISE (EDA 01)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Zoom in, and reliability collapses — predictably</a:t>
            </a:r>
            <a:endParaRPr lang="en-US" sz="2400" dirty="0"/>
          </a:p>
        </p:txBody>
      </p:sp>
      <p:pic>
        <p:nvPicPr>
          <p:cNvPr id="4" name="Image 0" descr="C:/Users/andre/Documents/Census-Analytics/data/processed/eda01_income_cv_by_geograp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8185983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054663" y="1417320"/>
            <a:ext cx="2585649" cy="4480560"/>
          </a:xfrm>
          <a:prstGeom prst="roundRect">
            <a:avLst>
              <a:gd name="adj" fmla="val 2476"/>
            </a:avLst>
          </a:prstGeom>
          <a:solidFill>
            <a:srgbClr val="EFF3FA"/>
          </a:solidFill>
          <a:ln/>
        </p:spPr>
      </p:sp>
      <p:sp>
        <p:nvSpPr>
          <p:cNvPr id="6" name="Text 3"/>
          <p:cNvSpPr/>
          <p:nvPr/>
        </p:nvSpPr>
        <p:spPr>
          <a:xfrm>
            <a:off x="9283263" y="1618488"/>
            <a:ext cx="2128449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survey, same state — only the zoom level changes. County income estimates: ~2% noise. Block groups: noise can exceed the income being measured.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collapse is lawful, not random — which is exactly what makes reliability scoreable.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lines (0.12 / 0.30 / 0.40) are common agency conventions, not our adopted tiers — tier design is a mentor decision for the scoring phase.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—  THE MECHANISM (EDA 02)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number of people behind an estimate sets its reliability</a:t>
            </a:r>
            <a:endParaRPr lang="en-US" sz="2400" dirty="0"/>
          </a:p>
        </p:txBody>
      </p:sp>
      <p:pic>
        <p:nvPicPr>
          <p:cNvPr id="4" name="Image 0" descr="C:/Users/andre/Documents/Census-Analytics/data/processed/eda02_cv_vs_estimate_si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56402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32700" y="1417320"/>
            <a:ext cx="4207612" cy="4480560"/>
          </a:xfrm>
          <a:prstGeom prst="roundRect">
            <a:avLst>
              <a:gd name="adj" fmla="val 1521"/>
            </a:avLst>
          </a:prstGeom>
          <a:solidFill>
            <a:srgbClr val="EFF3FA"/>
          </a:solidFill>
          <a:ln/>
        </p:spPr>
      </p:sp>
      <p:sp>
        <p:nvSpPr>
          <p:cNvPr id="6" name="Text 3"/>
          <p:cNvSpPr/>
          <p:nvPr/>
        </p:nvSpPr>
        <p:spPr>
          <a:xfrm>
            <a:off x="7661300" y="1618488"/>
            <a:ext cx="3750412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point is one tract-level estimate; noise falls along the dotted −½ guide — the pure sampling law.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Size-driven counts (population, subgroup counts) obey the law; prevalence-driven estimates (poverty) run shallower.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fitted size law is also the backbone of our independence test in EDA 05 — we residualize against it before correlating anything with CVs.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—  WHERE IT CONCENTRATES (EDA 03)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county-planner view — reliability as a map</a:t>
            </a:r>
            <a:endParaRPr lang="en-US" sz="2400" dirty="0"/>
          </a:p>
        </p:txBody>
      </p:sp>
      <p:pic>
        <p:nvPicPr>
          <p:cNvPr id="4" name="Image 0" descr="C:/Users/andre/Documents/Census-Analytics/data/processed/eda03_cv_choropleth_income_pover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263104" cy="4846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31784" y="1417320"/>
            <a:ext cx="5508528" cy="4846320"/>
          </a:xfrm>
          <a:prstGeom prst="roundRect">
            <a:avLst>
              <a:gd name="adj" fmla="val 1321"/>
            </a:avLst>
          </a:prstGeom>
          <a:solidFill>
            <a:srgbClr val="EFF3FA"/>
          </a:solidFill>
          <a:ln/>
        </p:spPr>
      </p:sp>
      <p:sp>
        <p:nvSpPr>
          <p:cNvPr id="6" name="Text 3"/>
          <p:cNvSpPr/>
          <p:nvPr/>
        </p:nvSpPr>
        <p:spPr>
          <a:xfrm>
            <a:off x="6360384" y="1618488"/>
            <a:ext cx="5051328" cy="4443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Tract-level reliability tiers for income (left) and poverty (right) — a crude preview of the dashboard deliverable.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is systematically less reliable than income at the same geography — variable type matters as much as size.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tracts = CV undefined (zero estimates). Our standing rule: report as their own class, never “infinitely unreliable.”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—  PRIVACY NOISE, SMALL SUBGROUP (EDA 04)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Privacy noise hits small subgroups everywhere below county scale</a:t>
            </a:r>
            <a:endParaRPr lang="en-US" sz="2400" dirty="0"/>
          </a:p>
        </p:txBody>
      </p:sp>
      <p:pic>
        <p:nvPicPr>
          <p:cNvPr id="4" name="Image 0" descr="C:/Users/andre/Documents/Census-Analytics/data/processed/eda04_black65_rmse_by_si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55954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28220" y="1417320"/>
            <a:ext cx="4212092" cy="4480560"/>
          </a:xfrm>
          <a:prstGeom prst="roundRect">
            <a:avLst>
              <a:gd name="adj" fmla="val 1520"/>
            </a:avLst>
          </a:prstGeom>
          <a:solidFill>
            <a:srgbClr val="EFF3FA"/>
          </a:solidFill>
          <a:ln/>
        </p:spPr>
      </p:sp>
      <p:sp>
        <p:nvSpPr>
          <p:cNvPr id="6" name="Text 3"/>
          <p:cNvSpPr/>
          <p:nvPr/>
        </p:nvSpPr>
        <p:spPr>
          <a:xfrm>
            <a:off x="7656820" y="1618488"/>
            <a:ext cx="3754892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analysis as the flagship chart, for Black residents 65+ — the small-subgroup stress test.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median tract (18 people in the subgroup), privacy noise is ~30–40% relative — at or above common caution thresholds.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the ACS sampling noise for the same subgroup at tract level is ~2–3× larger (median CV 0.886). At block level only the privacy mechanism exists — surveys don't publish there.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—  IMPUTATION INDEPENDENCE (EDA 05)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Imputation is invisible to error bars — and independent of them</a:t>
            </a:r>
            <a:endParaRPr lang="en-US" sz="2400" dirty="0"/>
          </a:p>
        </p:txBody>
      </p:sp>
      <p:pic>
        <p:nvPicPr>
          <p:cNvPr id="4" name="Image 0" descr="C:/Users/andre/Documents/Census-Analytics/data/processed/eda05_allocation_vs_c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994761" cy="4709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63441" y="1417320"/>
            <a:ext cx="4776871" cy="4709160"/>
          </a:xfrm>
          <a:prstGeom prst="roundRect">
            <a:avLst>
              <a:gd name="adj" fmla="val 1359"/>
            </a:avLst>
          </a:prstGeom>
          <a:solidFill>
            <a:srgbClr val="EFF3FA"/>
          </a:solidFill>
          <a:ln/>
        </p:spPr>
      </p:sp>
      <p:sp>
        <p:nvSpPr>
          <p:cNvPr id="6" name="Text 3"/>
          <p:cNvSpPr/>
          <p:nvPr/>
        </p:nvSpPr>
        <p:spPr>
          <a:xfrm>
            <a:off x="7092041" y="1618488"/>
            <a:ext cx="4319671" cy="430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pairings of imputation rate vs. sampling reliability across NJ tracts — four structureless clouds.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controlling for place size, every correlation sits between −0.00 and +0.19: knowing one tells you nothing about the other.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control matters: the poverty panel's raw −0.18 collapses to +0.02 once size is removed — the raw association was pure size confound.</a:t>
            </a:r>
            <a:endParaRPr lang="en-US" sz="130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 score built on error margins alone systematically overstates certainty for high-imputation places.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 —  FULL OPEN-QUESTIONS LIST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Everything we've queued for the mentors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1170432"/>
          </a:xfrm>
          <a:prstGeom prst="roundRect">
            <a:avLst>
              <a:gd name="adj" fmla="val 5469"/>
            </a:avLst>
          </a:prstGeom>
          <a:solidFill>
            <a:srgbClr val="EFF3FA"/>
          </a:solidFill>
          <a:ln/>
        </p:spPr>
      </p:sp>
      <p:sp>
        <p:nvSpPr>
          <p:cNvPr id="5" name="Text 3"/>
          <p:cNvSpPr/>
          <p:nvPr/>
        </p:nvSpPr>
        <p:spPr>
          <a:xfrm>
            <a:off x="694944" y="1563624"/>
            <a:ext cx="310896" cy="310896"/>
          </a:xfrm>
          <a:prstGeom prst="ellipse">
            <a:avLst/>
          </a:prstGeom>
          <a:solidFill>
            <a:srgbClr val="E860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33856" y="1527048"/>
            <a:ext cx="467258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shortlist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3–5 Census products the report and dashboard should cover.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440680" cy="1170432"/>
          </a:xfrm>
          <a:prstGeom prst="roundRect">
            <a:avLst>
              <a:gd name="adj" fmla="val 5469"/>
            </a:avLst>
          </a:prstGeom>
          <a:solidFill>
            <a:srgbClr val="EFF3FA"/>
          </a:solidFill>
          <a:ln/>
        </p:spPr>
      </p:sp>
      <p:sp>
        <p:nvSpPr>
          <p:cNvPr id="8" name="Text 6"/>
          <p:cNvSpPr/>
          <p:nvPr/>
        </p:nvSpPr>
        <p:spPr>
          <a:xfrm>
            <a:off x="6364224" y="1563624"/>
            <a:ext cx="310896" cy="310896"/>
          </a:xfrm>
          <a:prstGeom prst="ellipse">
            <a:avLst/>
          </a:prstGeom>
          <a:solidFill>
            <a:srgbClr val="E860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03136" y="1527048"/>
            <a:ext cx="467258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demonstration vintage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2022-08-25 tabulated DHC release the right privacy-noise basis (vs. the 2023-04-03 production-settings microdata)?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715768"/>
            <a:ext cx="5440680" cy="1170432"/>
          </a:xfrm>
          <a:prstGeom prst="roundRect">
            <a:avLst>
              <a:gd name="adj" fmla="val 5469"/>
            </a:avLst>
          </a:prstGeom>
          <a:solidFill>
            <a:srgbClr val="EFF3FA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862072"/>
            <a:ext cx="310896" cy="310896"/>
          </a:xfrm>
          <a:prstGeom prst="ellipse">
            <a:avLst/>
          </a:prstGeom>
          <a:solidFill>
            <a:srgbClr val="E860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33856" y="2825496"/>
            <a:ext cx="467258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Block-group anomaly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~9× tract-level absolute noise at block groups; county noisiest for the P12B subgroup table. Is the off-spine allocation reading right? Persist in production?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715768"/>
            <a:ext cx="5440680" cy="1170432"/>
          </a:xfrm>
          <a:prstGeom prst="roundRect">
            <a:avLst>
              <a:gd name="adj" fmla="val 5469"/>
            </a:avLst>
          </a:prstGeom>
          <a:solidFill>
            <a:srgbClr val="EFF3FA"/>
          </a:solidFill>
          <a:ln/>
        </p:spPr>
      </p:sp>
      <p:sp>
        <p:nvSpPr>
          <p:cNvPr id="14" name="Text 12"/>
          <p:cNvSpPr/>
          <p:nvPr/>
        </p:nvSpPr>
        <p:spPr>
          <a:xfrm>
            <a:off x="6364224" y="2862072"/>
            <a:ext cx="310896" cy="310896"/>
          </a:xfrm>
          <a:prstGeom prst="ellipse">
            <a:avLst/>
          </a:prstGeom>
          <a:solidFill>
            <a:srgbClr val="E860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03136" y="2825496"/>
            <a:ext cx="467258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input for privacy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ε allocations vs. empirically measured noise (our per-level RMSE)?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14216"/>
            <a:ext cx="5440680" cy="1170432"/>
          </a:xfrm>
          <a:prstGeom prst="roundRect">
            <a:avLst>
              <a:gd name="adj" fmla="val 5469"/>
            </a:avLst>
          </a:prstGeom>
          <a:solidFill>
            <a:srgbClr val="EFF3FA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4160520"/>
            <a:ext cx="310896" cy="310896"/>
          </a:xfrm>
          <a:prstGeom prst="ellipse">
            <a:avLst/>
          </a:prstGeom>
          <a:solidFill>
            <a:srgbClr val="E860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33856" y="4123944"/>
            <a:ext cx="467258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131-tract MOE mystery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 of NJ tracts publish near-controlled population MOEs (±14–143 vs. median ±546). What mechanism? Own class in the score?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4014216"/>
            <a:ext cx="5440680" cy="1170432"/>
          </a:xfrm>
          <a:prstGeom prst="roundRect">
            <a:avLst>
              <a:gd name="adj" fmla="val 5469"/>
            </a:avLst>
          </a:prstGeom>
          <a:solidFill>
            <a:srgbClr val="EFF3FA"/>
          </a:solidFill>
          <a:ln/>
        </p:spPr>
      </p:sp>
      <p:sp>
        <p:nvSpPr>
          <p:cNvPr id="20" name="Text 18"/>
          <p:cNvSpPr/>
          <p:nvPr/>
        </p:nvSpPr>
        <p:spPr>
          <a:xfrm>
            <a:off x="6364224" y="4160520"/>
            <a:ext cx="310896" cy="310896"/>
          </a:xfrm>
          <a:prstGeom prst="ellipse">
            <a:avLst/>
          </a:prstGeom>
          <a:solidFill>
            <a:srgbClr val="E860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03136" y="4123944"/>
            <a:ext cx="467258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 floor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and race×age tables stop at tract level — acceptable floor for the dashboard?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312664"/>
            <a:ext cx="5440680" cy="1170432"/>
          </a:xfrm>
          <a:prstGeom prst="roundRect">
            <a:avLst>
              <a:gd name="adj" fmla="val 5469"/>
            </a:avLst>
          </a:prstGeom>
          <a:solidFill>
            <a:srgbClr val="EFF3FA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" y="5458968"/>
            <a:ext cx="310896" cy="310896"/>
          </a:xfrm>
          <a:prstGeom prst="ellipse">
            <a:avLst/>
          </a:prstGeom>
          <a:solidFill>
            <a:srgbClr val="E8604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33856" y="5422392"/>
            <a:ext cx="467258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Income-allocation signal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positive association between income imputation and income CV after size control (ρ ≈ +0.19). Known mechanism or ignorable?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5A6B85"/>
                </a:solidFill>
                <a:latin typeface="Calibri"/>
              </a:rPr>
              <a:t>BACKUP  ·  COMPOSITE PROTOTYPE (EDA 06)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E2761"/>
                </a:solidFill>
                <a:latin typeface="Calibri Light"/>
              </a:rPr>
              <a:t>The CV-only blind spot: ~23% of tracts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42960" y="1417320"/>
            <a:ext cx="3200400" cy="4782680"/>
          </a:xfrm>
          <a:prstGeom prst="roundRect">
            <a:avLst>
              <a:gd name="adj" fmla="val 2476"/>
            </a:avLst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71560" y="1618488"/>
            <a:ext cx="2743200" cy="4380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</a:rPr>
              <a:t>How to read it</a:t>
            </a:r>
          </a:p>
          <a:p>
            <a:pPr marL="228600" indent="-228600">
              <a:spcBef>
                <a:spcPts val="1000"/>
              </a:spcBef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Each point is one NJ tract. Dashed lines mark CV = 0.30 (ACS reference) and the NJ 75th percentile of income allocation (~0.46).</a:t>
            </a:r>
          </a:p>
          <a:p>
            <a:pPr marL="228600" indent="-228600">
              <a:spcBef>
                <a:spcPts val="1000"/>
              </a:spcBef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Gold = low CV / high allocation (n=481, 22.8% of classified tracts). That's the blind spot: published error bars look fine, but imputation does not.</a:t>
            </a:r>
          </a:p>
          <a:p>
            <a:pPr marL="228600" indent="-228600">
              <a:spcBef>
                <a:spcPts val="1000"/>
              </a:spcBef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Why it matters: a score built on MOEs alone would call these tracts reliable. Matrix stays the headline; weights not locked (equal-weight vs worst-component agree on ~85% of top-risk-quartile membership).</a:t>
            </a:r>
          </a:p>
        </p:txBody>
      </p:sp>
      <p:pic>
        <p:nvPicPr>
          <p:cNvPr id="7" name="Picture 6" descr="eda06-income-blind-sp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296" y="1417320"/>
            <a:ext cx="7314687" cy="4782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5A6B85"/>
                </a:solidFill>
                <a:latin typeface="Calibri"/>
              </a:rPr>
              <a:t>BACKUP  ·  CV DRIVER MODEL (EDA 07)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E2761"/>
                </a:solidFill>
                <a:latin typeface="Calibri Light"/>
              </a:rPr>
              <a:t>Score the estimate, not the place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42960" y="1417320"/>
            <a:ext cx="3200400" cy="4782680"/>
          </a:xfrm>
          <a:prstGeom prst="roundRect">
            <a:avLst>
              <a:gd name="adj" fmla="val 2476"/>
            </a:avLst>
          </a:prstGeom>
          <a:solidFill>
            <a:srgbClr val="EF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71560" y="1618488"/>
            <a:ext cx="2743200" cy="4380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</a:rPr>
              <a:t>How to read it</a:t>
            </a:r>
          </a:p>
          <a:p>
            <a:pPr marL="228600" indent="-228600">
              <a:spcBef>
                <a:spcPts val="1000"/>
              </a:spcBef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Each bar is one model's R² (the share of CV variance it explains), run in sequence on n≈24,947 rows.</a:t>
            </a:r>
          </a:p>
          <a:p>
            <a:pPr marL="228600" indent="-228600">
              <a:spcBef>
                <a:spcPts val="1000"/>
              </a:spcBef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Population alone explains almost nothing (R²≈0.005). Swapping in estimate size jumps to R²≈0.666, by far the biggest gain.</a:t>
            </a:r>
          </a:p>
          <a:p>
            <a:pPr marL="228600" indent="-228600">
              <a:spcBef>
                <a:spcPts val="1000"/>
              </a:spcBef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Adding geography level and variable group reaches R²≈0.706. Adding interactions reaches R²≈0.726.</a:t>
            </a:r>
          </a:p>
          <a:p>
            <a:pPr marL="228600" indent="-228600">
              <a:spcBef>
                <a:spcPts val="1000"/>
              </a:spcBef>
              <a:buFont typeface="Arial"/>
              <a:buChar char="•"/>
            </a:pPr>
            <a:r>
              <a:rPr sz="1150">
                <a:solidFill>
                  <a:srgbClr val="1F2937"/>
                </a:solidFill>
                <a:latin typeface="Calibri"/>
              </a:rPr>
              <a:t>Caveat: income medians are weakly size-explained (R²≈0.01), so residual flags work better for count variables than for income.</a:t>
            </a:r>
          </a:p>
        </p:txBody>
      </p:sp>
      <p:pic>
        <p:nvPicPr>
          <p:cNvPr id="7" name="Picture 6" descr="eda07-r2-waterf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630" y="1417320"/>
            <a:ext cx="7174020" cy="4782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2026-07-17T22:48:51Z</dcterms:created>
  <dcterms:modified xsi:type="dcterms:W3CDTF">2026-07-17T22:48:51Z</dcterms:modified>
</cp:coreProperties>
</file>