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— quick 10-minute recap of where the project stands before we split up work. Everything I show today is in the GitHub repo, and by the end you'll see how to get the exact same data on your own laptop in about 10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Census Bureau's own framing: uncertainty enters at multiple points in the product lifecycle, and today there is no unified way for a non-technical user to judge whether an estimate is reliable enough for their decision. Our three-part job maps to the research questions: decompose the sources (Q1), build a composite score (Q2/Q3), and communicate it visually (Q4). All data is public — no NDA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 rule from the sponsor: biweekly mentor meetings, and we bring a one-slide status — what worked, what's blocked, what we need. Nice-to-haves exist (interactive sliders, counterfactual tools) but only after the three must-haves are safe.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Scripts live in the /ingestion folder; each has a docstring saying what it needs and what it produces. Sanity checks are built in: the pull verifies NJ has exactly 21 counties, checks null rates and value ranges, and prints a per-column report before we trust anything.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ACS 5-year estimates, 2024 vintage (2020–2024), state = New Jersey. Why NJ: small enough to iterate fast, real enough to learn from. Margin of error definition if asked: the published number could plausibly be off by up to this much, at 90% confidence. The plan is to prove the method on one state, then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Technical detail if anyone asks: boundaries are cartographic boundary files, vintage-matched to the data (2024), saved as GeoParquet. A handful of shapes (6 tracts, 6 block groups) have tiny self-intersection quirks — harmless for maps, and we've documented the fix needed before any area calculations.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project's central empirical fact and the seed of our first mentor-meeting chart. Intuition, not formula: think of uncertainty as noise as a share of the number itself. At county scale the noise is a rounding error; at block-group scale it can be bigger than the estimate. Small areas = small survey samples = huge error bars. This is why a single reliability score, shown on a map, is genuinely useful.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Details if asked: (1) the API literally returns 'no content' below tract for poverty (B17001) and race-by-age tables — verified empirically, and a block-group-friendly alternative table is on the mentor-question list. (2) Top-coding at 250,001 is a Census disclosure practice. (3) The special codes are annotation values like -555555555 (controlled, very reliable) and -666666666 (insufficient sample); our data library converts both to blank, but the API offers annotation columns that recover the distinction.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Encourage everyone to do this before the next work session — it's the fastest way to get familiar with the repo, and it proves our reproducibility claim on four more laptops. If anything in the walkthrough fails on your machine, that's a bug in our deliverable — tell me and we fix the README, not just your laptop.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analyses are intentionally paused until the team has reviewed the repo — that's this call. Once we agree, analysis #1 starts immediately; everything it needs is already on disk. Workstreams are a starting point, not silos — everyone should touch the data at least once via the 10-minute setup.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left to right: data comes in through the Census Bureau's public API (each of us uses our own free key, stored locally, never committed), script #1 fetches the estimates with their margins of error and validates itself, script #2 fetches the matching geography and proves the 1-to-1 join, and the result is analysis-ready files on disk. The dashed boxes are the layers we build next — each one reads from the files this pipeline produces, so if the pipeline is trustworthy, everything downstream inherits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463040"/>
            <a:ext cx="4206240" cy="420624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365760"/>
            <a:ext cx="2377440" cy="2377440"/>
          </a:xfrm>
          <a:prstGeom prst="ellipse">
            <a:avLst/>
          </a:prstGeom>
          <a:solidFill>
            <a:srgbClr val="E8604C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188720" y="5394960"/>
            <a:ext cx="3108960" cy="3108960"/>
          </a:xfrm>
          <a:prstGeom prst="ellipse">
            <a:avLst/>
          </a:prstGeom>
          <a:solidFill>
            <a:srgbClr val="CADCFC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MSBA CAPSTONE  ×  U.S. CENSUS BUREAU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Census Uncertainty Analytics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recap — what's built, what we found, and what comes next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sync  ·  July 12, 2026  ·  Andrew Swiniarski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 EXISTS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Census number carries hidden noise — we're making it visible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noise comes from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56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78308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2130552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Surveys like the ACS only reach a fraction of households — the rest is statistical estimation.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227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315468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Filled-in answers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3502152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people skip questions, the Bureau fills in values with models (“imputation”).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6177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599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452628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noise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4873752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 blurring is added to published counts so no individual can be identified.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720840" y="1325880"/>
            <a:ext cx="4919472" cy="4480560"/>
          </a:xfrm>
          <a:prstGeom prst="roundRect">
            <a:avLst>
              <a:gd name="adj" fmla="val 1837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7086600" y="16002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building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086600" y="214884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0" name="Text 18"/>
          <p:cNvSpPr/>
          <p:nvPr/>
        </p:nvSpPr>
        <p:spPr>
          <a:xfrm>
            <a:off x="7086600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26680" y="210312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each noise source in real Census data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086600" y="301752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3" name="Text 21"/>
          <p:cNvSpPr/>
          <p:nvPr/>
        </p:nvSpPr>
        <p:spPr>
          <a:xfrm>
            <a:off x="7086600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26680" y="297180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them into one simple reliability score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086600" y="388620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6" name="Text 24"/>
          <p:cNvSpPr/>
          <p:nvPr/>
        </p:nvSpPr>
        <p:spPr>
          <a:xfrm>
            <a:off x="708660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726680" y="384048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score on a map dashboard anyone can read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086600" y="489204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for everything we make: </a:t>
            </a:r>
            <a:pPr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a county planner act on it?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AND SCHEDULE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graded deliverables — and we're in week 1 of 14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611880" cy="1920240"/>
          </a:xfrm>
          <a:prstGeom prst="roundRect">
            <a:avLst>
              <a:gd name="adj" fmla="val 4286"/>
            </a:avLst>
          </a:prstGeom>
          <a:solidFill>
            <a:srgbClr val="EFF3F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62763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09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66420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Report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24028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noise comes from, our scoring method, and “fit for use” guidance for 3–5 Census products.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70832" y="1371600"/>
            <a:ext cx="3611880" cy="1920240"/>
          </a:xfrm>
          <a:prstGeom prst="roundRect">
            <a:avLst>
              <a:gd name="adj" fmla="val 4286"/>
            </a:avLst>
          </a:prstGeom>
          <a:solidFill>
            <a:srgbClr val="EFF3FA"/>
          </a:solidFill>
          <a:ln/>
        </p:spPr>
      </p:sp>
      <p:sp>
        <p:nvSpPr>
          <p:cNvPr id="10" name="Shape 8"/>
          <p:cNvSpPr/>
          <p:nvPr/>
        </p:nvSpPr>
        <p:spPr>
          <a:xfrm>
            <a:off x="4645152" y="162763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645152" y="1609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39512" y="166420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Codebase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45152" y="224028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that take anyone from raw Census data to scores and maps — rerunnable end to end.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93024" y="1371600"/>
            <a:ext cx="3611880" cy="1920240"/>
          </a:xfrm>
          <a:prstGeom prst="roundRect">
            <a:avLst>
              <a:gd name="adj" fmla="val 4286"/>
            </a:avLst>
          </a:prstGeom>
          <a:solidFill>
            <a:srgbClr val="EFF3FA"/>
          </a:solidFill>
          <a:ln/>
        </p:spPr>
      </p:sp>
      <p:sp>
        <p:nvSpPr>
          <p:cNvPr id="15" name="Shape 13"/>
          <p:cNvSpPr/>
          <p:nvPr/>
        </p:nvSpPr>
        <p:spPr>
          <a:xfrm>
            <a:off x="8467344" y="162763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467344" y="1609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061704" y="166420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67344" y="224028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maps with color-coded reliability tiers and plain-English tooltips.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160520"/>
            <a:ext cx="2139696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" y="4288536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1–3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3232" y="4581144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data &amp; research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798064" y="4160520"/>
            <a:ext cx="2139696" cy="1051560"/>
          </a:xfrm>
          <a:prstGeom prst="roundRect">
            <a:avLst>
              <a:gd name="adj" fmla="val 7826"/>
            </a:avLst>
          </a:prstGeom>
          <a:solidFill>
            <a:srgbClr val="EFF3FA"/>
          </a:solidFill>
          <a:ln/>
        </p:spPr>
      </p:sp>
      <p:sp>
        <p:nvSpPr>
          <p:cNvPr id="23" name="Text 21"/>
          <p:cNvSpPr/>
          <p:nvPr/>
        </p:nvSpPr>
        <p:spPr>
          <a:xfrm>
            <a:off x="2962656" y="4288536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4–6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962656" y="4581144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pitch &amp; wireframe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047488" y="4160520"/>
            <a:ext cx="2139696" cy="1051560"/>
          </a:xfrm>
          <a:prstGeom prst="roundRect">
            <a:avLst>
              <a:gd name="adj" fmla="val 7826"/>
            </a:avLst>
          </a:prstGeom>
          <a:solidFill>
            <a:srgbClr val="EFF3FA"/>
          </a:solidFill>
          <a:ln/>
        </p:spPr>
      </p:sp>
      <p:sp>
        <p:nvSpPr>
          <p:cNvPr id="26" name="Text 24"/>
          <p:cNvSpPr/>
          <p:nvPr/>
        </p:nvSpPr>
        <p:spPr>
          <a:xfrm>
            <a:off x="5212080" y="4288536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7–10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12080" y="4581144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296912" y="4160520"/>
            <a:ext cx="2139696" cy="1051560"/>
          </a:xfrm>
          <a:prstGeom prst="roundRect">
            <a:avLst>
              <a:gd name="adj" fmla="val 7826"/>
            </a:avLst>
          </a:prstGeom>
          <a:solidFill>
            <a:srgbClr val="EFF3FA"/>
          </a:solidFill>
          <a:ln/>
        </p:spPr>
      </p:sp>
      <p:sp>
        <p:nvSpPr>
          <p:cNvPr id="29" name="Text 27"/>
          <p:cNvSpPr/>
          <p:nvPr/>
        </p:nvSpPr>
        <p:spPr>
          <a:xfrm>
            <a:off x="7461504" y="4288536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11–12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461504" y="4581144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feedback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9546336" y="4160520"/>
            <a:ext cx="2139696" cy="1051560"/>
          </a:xfrm>
          <a:prstGeom prst="roundRect">
            <a:avLst>
              <a:gd name="adj" fmla="val 7826"/>
            </a:avLst>
          </a:prstGeom>
          <a:solidFill>
            <a:srgbClr val="EFF3FA"/>
          </a:solidFill>
          <a:ln/>
        </p:spPr>
      </p:sp>
      <p:sp>
        <p:nvSpPr>
          <p:cNvPr id="32" name="Text 30"/>
          <p:cNvSpPr/>
          <p:nvPr/>
        </p:nvSpPr>
        <p:spPr>
          <a:xfrm>
            <a:off x="9710928" y="4288536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13–14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710928" y="4581144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tool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960120" y="3831336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E8604C"/>
          </a:solidFill>
          <a:ln/>
        </p:spPr>
      </p:sp>
      <p:sp>
        <p:nvSpPr>
          <p:cNvPr id="35" name="Text 33"/>
          <p:cNvSpPr/>
          <p:nvPr/>
        </p:nvSpPr>
        <p:spPr>
          <a:xfrm>
            <a:off x="960120" y="382219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HERE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48640" y="5532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mentor meeting ≈ July 22 — we bring a one-slide status and our first real chart.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STATUS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foundation is built — and every step is a rerunnable script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44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417320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 is live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764792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folder structure, README walkthroughs, and secrets (API keys) kept out of git permanently.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3347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151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2587752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environment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935224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recreates the exact same toolset on any laptop.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80390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7856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3758184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script #1 — the numbers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4105656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Census estimates together with their official error margins, then runs automatic sanity checks.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97433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956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4928616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script #2 — the maps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5276088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the matching geographic boundaries and verifies every row of data joins to exactly one shape.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909560" y="1417320"/>
            <a:ext cx="3730752" cy="4480560"/>
          </a:xfrm>
          <a:prstGeom prst="roundRect">
            <a:avLst>
              <a:gd name="adj" fmla="val 2206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8183880" y="17373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scripts instead of downloads?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183880" y="251460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is itself a graded deliverable. No file in this project was downloaded by hand — every dataset is rebuilt by a committed script, so anyone (including the Census Bureau) can reproduce our results identically.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183880" y="48920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never goes into git — only the scripts that rebuild it.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DATASET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data in hand: New Jersey at three zoom levels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variables, chosen to span the uncertainty range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2029968"/>
            <a:ext cx="128016" cy="128016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20240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population</a:t>
            </a:r>
            <a:pPr indent="0" marL="0">
              <a:buNone/>
            </a:pPr>
            <a:r>
              <a:rPr lang="en-US" sz="13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baseline everyone understands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4360" y="2990088"/>
            <a:ext cx="128016" cy="128016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880360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household income</a:t>
            </a:r>
            <a:pPr indent="0" marL="0">
              <a:buNone/>
            </a:pPr>
            <a:r>
              <a:rPr lang="en-US" sz="13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typical “middle difficulty” estimate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3950208"/>
            <a:ext cx="128016" cy="128016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840480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below the poverty line</a:t>
            </a:r>
            <a:pPr indent="0" marL="0">
              <a:buNone/>
            </a:pPr>
            <a:r>
              <a:rPr lang="en-US" sz="13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policy-relevant, moderate noise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4910328"/>
            <a:ext cx="128016" cy="128016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800600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small subgroup (Black residents, 65+)</a:t>
            </a:r>
            <a:pPr indent="0" marL="0">
              <a:buNone/>
            </a:pPr>
            <a:r>
              <a:rPr lang="en-US" sz="13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small groups are where noise explodes — we need one to show it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576072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estimate ships with a margin of error — the official “how far off could this be?” number. That's the raw material for the whole project.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903720" y="1371600"/>
            <a:ext cx="4736592" cy="5120640"/>
          </a:xfrm>
          <a:prstGeom prst="roundRect">
            <a:avLst>
              <a:gd name="adj" fmla="val 1737"/>
            </a:avLst>
          </a:prstGeom>
          <a:solidFill>
            <a:srgbClr val="EFF3FA"/>
          </a:solidFill>
          <a:ln/>
        </p:spPr>
      </p:sp>
      <p:sp>
        <p:nvSpPr>
          <p:cNvPr id="15" name="Text 13"/>
          <p:cNvSpPr/>
          <p:nvPr/>
        </p:nvSpPr>
        <p:spPr>
          <a:xfrm>
            <a:off x="7269480" y="16276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zoom levels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269480" y="210312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9189720" y="217627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89720" y="252374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view most people know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92440" y="29718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269480" y="352044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2,181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9189720" y="35935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 tracts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189720" y="394106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neighborhood-sized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92440" y="43891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269480" y="493776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6,599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9189720" y="50109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groups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189720" y="535838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 few city blocks each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Verified: our numbers and our maps snap together 1-to-1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36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508760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matches exactly one shape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87452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all three zoom levels, each data row joined to exactly one boundary on the map — no orphans, no duplicates.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090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3063240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eyeball test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342900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drew all 2,181 tracts with no styling at all. It looks like New Jersey because it is — the join keys work.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6634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645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4617720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498348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dashboard is a map. Getting data-to-map joins verified now means every choropleth we build later is trustworthy.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549640" y="1234440"/>
            <a:ext cx="3261172" cy="5760720"/>
          </a:xfrm>
          <a:prstGeom prst="roundRect">
            <a:avLst>
              <a:gd name="adj" fmla="val 2524"/>
            </a:avLst>
          </a:prstGeom>
          <a:solidFill>
            <a:srgbClr val="EFF3FA"/>
          </a:solidFill>
          <a:ln/>
        </p:spPr>
      </p:sp>
      <p:pic>
        <p:nvPicPr>
          <p:cNvPr id="17" name="Image 0" descr="C:/Users/andre/Documents/Census-Analytics/data/raw/verification_map_nj_trac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1417320"/>
            <a:ext cx="2803972" cy="50749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41080" y="6400800"/>
            <a:ext cx="30782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2,181 NJ census tracts, drawn straight from our pulled data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HEADLINE FINDING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Zoom in, and uncertainty explodes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Worst-case margin of error on median household income, same survey, same state: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4937760" cy="2743200"/>
          </a:xfrm>
          <a:prstGeom prst="roundRect">
            <a:avLst>
              <a:gd name="adj" fmla="val 3000"/>
            </a:avLst>
          </a:prstGeom>
          <a:solidFill>
            <a:srgbClr val="EFF3F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86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COUNTY LEVEL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±$3,982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914400" y="38862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enough for most planning decisions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720840" y="1965960"/>
            <a:ext cx="4937760" cy="2743200"/>
          </a:xfrm>
          <a:prstGeom prst="roundRect">
            <a:avLst>
              <a:gd name="adj" fmla="val 3000"/>
            </a:avLst>
          </a:prstGeom>
          <a:solidFill>
            <a:srgbClr val="FDEEEA"/>
          </a:solidFill>
          <a:ln/>
        </p:spPr>
      </p:sp>
      <p:sp>
        <p:nvSpPr>
          <p:cNvPr id="10" name="Text 8"/>
          <p:cNvSpPr/>
          <p:nvPr/>
        </p:nvSpPr>
        <p:spPr>
          <a:xfrm>
            <a:off x="7086600" y="2286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GROUP LEVEL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86600" y="269748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6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±$247,531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7086600" y="38862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error is bigger than most incomes being measured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568696" y="2834640"/>
            <a:ext cx="1051560" cy="10515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568696" y="2816352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62×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477256" y="39136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noisier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 source — the only thing that changed is how far we zoomed in. Knowing when a number is still trustworthy is exactly the question our reliability score will answer.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LANDMINES — FOUND AND DOCUMENTED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quirks we caught early, so nobody trips on them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11880" cy="3977640"/>
          </a:xfrm>
          <a:prstGeom prst="roundRect">
            <a:avLst>
              <a:gd name="adj" fmla="val 2278"/>
            </a:avLst>
          </a:prstGeom>
          <a:solidFill>
            <a:srgbClr val="EFF3F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83080"/>
            <a:ext cx="502920" cy="502920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64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areas are missing tables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333756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Poverty and detailed demographic tables simply aren't published below the tract level. We've logged the “is tract an acceptable floor?” question for our Census mentors.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70832" y="1463040"/>
            <a:ext cx="3611880" cy="3977640"/>
          </a:xfrm>
          <a:prstGeom prst="roundRect">
            <a:avLst>
              <a:gd name="adj" fmla="val 2278"/>
            </a:avLst>
          </a:prstGeom>
          <a:solidFill>
            <a:srgbClr val="EFF3FA"/>
          </a:solidFill>
          <a:ln/>
        </p:spPr>
      </p:sp>
      <p:sp>
        <p:nvSpPr>
          <p:cNvPr id="10" name="Shape 8"/>
          <p:cNvSpPr/>
          <p:nvPr/>
        </p:nvSpPr>
        <p:spPr>
          <a:xfrm>
            <a:off x="4645152" y="1783080"/>
            <a:ext cx="502920" cy="502920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1" name="Text 9"/>
          <p:cNvSpPr/>
          <p:nvPr/>
        </p:nvSpPr>
        <p:spPr>
          <a:xfrm>
            <a:off x="4645152" y="1764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45152" y="25146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tops out at $250,001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645152" y="333756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area with median income above $250k shows the exact same capped value — several NJ tracts hit it. Wealthy areas need careful handling.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93024" y="1463040"/>
            <a:ext cx="3611880" cy="3977640"/>
          </a:xfrm>
          <a:prstGeom prst="roundRect">
            <a:avLst>
              <a:gd name="adj" fmla="val 2278"/>
            </a:avLst>
          </a:prstGeom>
          <a:solidFill>
            <a:srgbClr val="EFF3FA"/>
          </a:solidFill>
          <a:ln/>
        </p:spPr>
      </p:sp>
      <p:sp>
        <p:nvSpPr>
          <p:cNvPr id="15" name="Shape 13"/>
          <p:cNvSpPr/>
          <p:nvPr/>
        </p:nvSpPr>
        <p:spPr>
          <a:xfrm>
            <a:off x="8467344" y="1783080"/>
            <a:ext cx="502920" cy="502920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6" name="Text 14"/>
          <p:cNvSpPr/>
          <p:nvPr/>
        </p:nvSpPr>
        <p:spPr>
          <a:xfrm>
            <a:off x="8467344" y="1764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467344" y="25146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Blanks that lie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467344" y="333756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special codes with opposite meanings — “officially exact” and “too little data to publish” — both arrive as empty cells in our tools. We know how to recover the difference when it matters.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are written up in the repo's handoff notes — future-us will not rediscover them the hard way.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the exact same data on your laptop — about 10 minutes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463040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the GitHub repo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810512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git command — the README on the repo front page has it ready to copy.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53288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2514600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Python environment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862072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installs the identical toolset we used.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58444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566160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your free Census API key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913632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signup; the key arrives by email within minutes. It stays on your machine, never in git.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63600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4617720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two data scripts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4965192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identical New Jersey dataset appears on your machine, sanity checks and all.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092440" y="1463040"/>
            <a:ext cx="3547872" cy="4114800"/>
          </a:xfrm>
          <a:prstGeom prst="roundRect">
            <a:avLst>
              <a:gd name="adj" fmla="val 2320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8366760" y="1783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walkthrough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366760" y="224028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→ “Getting Started” on the repo front page. Written for exactly this — ten minutes from clone to working environment.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66760" y="39776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data is rebuilt by scripts, we all stay perfectly in sync — nobody ever emails a CSV.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github.com/andrewswiniarski-hue/Census_Uncertainty_Analysis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4937760"/>
            <a:ext cx="3291840" cy="329184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analyses are queued — and I need three things from you today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Queued analyses (data is already on disk)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50008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2331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Chart: how noise grows as areas shrink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67919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first real finding, and the chart we bring to the July 22 mentor meeting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3566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Map: where uncertainty concentrates in NJ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391363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crude preview of the final dashboard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818888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4800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privacy-noise demo dataset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514807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setup item still open — needed to study the Decennial Census side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903720" y="1828800"/>
            <a:ext cx="4736592" cy="3977640"/>
          </a:xfrm>
          <a:prstGeom prst="roundRect">
            <a:avLst>
              <a:gd name="adj" fmla="val 2069"/>
            </a:avLst>
          </a:prstGeom>
          <a:solidFill>
            <a:srgbClr val="2A3578"/>
          </a:solidFill>
          <a:ln/>
        </p:spPr>
      </p:sp>
      <p:sp>
        <p:nvSpPr>
          <p:cNvPr id="19" name="Text 17"/>
          <p:cNvSpPr/>
          <p:nvPr/>
        </p:nvSpPr>
        <p:spPr>
          <a:xfrm>
            <a:off x="7269480" y="21031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discussion on this call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269480" y="2606040"/>
            <a:ext cx="4069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feedback from the repo review — anything unclear or missing?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wants which workstream — analysis, dashboard, methodology write-up, data hunting?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our recurring biweekly slot with the mentors.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CURRENT SETUP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 today: one API, two scripts, identical data for everyone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514600" cy="2880360"/>
          </a:xfrm>
          <a:prstGeom prst="roundRect">
            <a:avLst>
              <a:gd name="adj" fmla="val 3273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45920"/>
            <a:ext cx="411480" cy="4114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27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 Bureau API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74320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Bureau's free public data service. We ask for exactly the tables, places, and error margins we want — a personal key (kept out of git) unlocks it.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39136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api.census.gov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044952" y="2583180"/>
            <a:ext cx="402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410712" y="1417320"/>
            <a:ext cx="2514600" cy="2880360"/>
          </a:xfrm>
          <a:prstGeom prst="roundRect">
            <a:avLst>
              <a:gd name="adj" fmla="val 3273"/>
            </a:avLst>
          </a:prstGeom>
          <a:solidFill>
            <a:srgbClr val="EFF3FA"/>
          </a:solidFill>
          <a:ln/>
        </p:spPr>
      </p:sp>
      <p:sp>
        <p:nvSpPr>
          <p:cNvPr id="12" name="Shape 10"/>
          <p:cNvSpPr/>
          <p:nvPr/>
        </p:nvSpPr>
        <p:spPr>
          <a:xfrm>
            <a:off x="3639312" y="164592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3639312" y="1627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39312" y="21945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#1 — the numbers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39312" y="274320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estimates plus their margins of error at all three zoom levels, then sanity-checks itself: 21 counties, value ranges, blank rates.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39312" y="39136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ingestion/pull_acs_nj.py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07024" y="2583180"/>
            <a:ext cx="402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272784" y="1417320"/>
            <a:ext cx="2514600" cy="2880360"/>
          </a:xfrm>
          <a:prstGeom prst="roundRect">
            <a:avLst>
              <a:gd name="adj" fmla="val 3273"/>
            </a:avLst>
          </a:prstGeom>
          <a:solidFill>
            <a:srgbClr val="EFF3FA"/>
          </a:solidFill>
          <a:ln/>
        </p:spPr>
      </p:sp>
      <p:sp>
        <p:nvSpPr>
          <p:cNvPr id="19" name="Shape 17"/>
          <p:cNvSpPr/>
          <p:nvPr/>
        </p:nvSpPr>
        <p:spPr>
          <a:xfrm>
            <a:off x="6501384" y="164592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501384" y="1627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01384" y="21945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#2 — the maps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01384" y="274320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the matching boundary shapes and proves every data row joins to exactly one shape — then draws a test map as visual proof.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501384" y="39136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ingestion/pull_nj_geometry.py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769096" y="2583180"/>
            <a:ext cx="402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9134856" y="1417320"/>
            <a:ext cx="2514600" cy="2880360"/>
          </a:xfrm>
          <a:prstGeom prst="roundRect">
            <a:avLst>
              <a:gd name="adj" fmla="val 3273"/>
            </a:avLst>
          </a:prstGeom>
          <a:solidFill>
            <a:srgbClr val="1E2761"/>
          </a:solidFill>
          <a:ln/>
        </p:spPr>
      </p:sp>
      <p:sp>
        <p:nvSpPr>
          <p:cNvPr id="26" name="Shape 24"/>
          <p:cNvSpPr/>
          <p:nvPr/>
        </p:nvSpPr>
        <p:spPr>
          <a:xfrm>
            <a:off x="9363456" y="1645920"/>
            <a:ext cx="411480" cy="4114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7" name="Text 25"/>
          <p:cNvSpPr/>
          <p:nvPr/>
        </p:nvSpPr>
        <p:spPr>
          <a:xfrm>
            <a:off x="9363456" y="1627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363456" y="21945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Analysis-ready files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363456" y="274320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checked data files plus the verification map land on disk — byte-identical on any laptop that runs the scripts.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363456" y="39136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data/raw/  (never committed)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4709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stacks on top of this next: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48640" y="5120640"/>
            <a:ext cx="3383280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5A6B85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685800" y="51206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error (noise vs. estimate)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913632" y="5193792"/>
            <a:ext cx="512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4389120" y="5120640"/>
            <a:ext cx="3383280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5A6B85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4526280" y="51206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reliability score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754112" y="5193792"/>
            <a:ext cx="512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8229600" y="5120640"/>
            <a:ext cx="3383280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5A6B85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8366760" y="51206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it on the dashboard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never goes into git — the scripts are the source of truth. Run them, and you rebuild the exact same files.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2026-07-12T22:01:59Z</dcterms:created>
  <dcterms:modified xsi:type="dcterms:W3CDTF">2026-07-12T22:01:59Z</dcterms:modified>
</cp:coreProperties>
</file>