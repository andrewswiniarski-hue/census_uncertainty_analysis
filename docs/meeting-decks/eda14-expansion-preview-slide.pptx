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(~90 seconds)</a:t>
            </a:r>
          </a:p>
          <a:p/>
          <a:p>
            <a:r>
              <a:t>Setup (~10s): Last time we showed you a reliability layer for income and poverty. This slide is what the same layer looks like when it covers the whole ACS. Everything on here is real data from our dataset-wide survey -- no mock numbers.</a:t>
            </a:r>
          </a:p>
          <a:p/>
          <a:p>
            <a:r>
              <a:t>The product, left (~35s): Four cells from one county -- Los Angeles, the largest in America -- and they need four different sentences. Population: exact by design, because it's controlled to official totals; today its blank margin of error looks like missing data. Median rent: an error bar of six dollars on 1,954 -- essentially exact. Senegalese ancestry: published, but the error bar is two-thirds of the estimate -- a user should know that before citing it. And detailed language: not published at county scale at all -- the honest answer is 'go up a geography,' not a blank. One vocabulary, every estimate answered. That's the feature.</a:t>
            </a:r>
          </a:p>
          <a:p/>
          <a:p>
            <a:r>
              <a:t>The curation, right (~20s): We don't hand-pick tables by intuition. The survey ranks all of them by the share of cells a county-scale view can actually support -- housing, population, age and income at the top; detailed race, ancestry and language at the bottom, either unpublished or noise-dominated. The shortlist for the expanded tool falls straight out of this chart, and we'd finalize it with you.</a:t>
            </a:r>
          </a:p>
          <a:p/>
          <a:p>
            <a:r>
              <a:t>The path, bottom (~15s): Step one is done -- the engine exists and reproduces our verified New Jersey numbers exactly. Step two is the curated shortlist plus our imputation axis, which is where we want your sign-off. Step three takes it to tract and block-group scale, where the planners we're designing for actually work.</a:t>
            </a:r>
          </a:p>
          <a:p/>
          <a:p>
            <a:r>
              <a:t>The ask (~10s): Confirm the widened scope -- same reliability layer, applied ACS-wide, county pilot first.</a:t>
            </a:r>
          </a:p>
          <a:p/>
          <a:p>
            <a:r>
              <a:t>POCKET ANSWERS</a:t>
            </a:r>
          </a:p>
          <a:p>
            <a:r>
              <a:t>- 'Are these verdict labels final?' No -- wording is deliberately neutral and descriptive; we understood the guidance to avoid judgment chips, and the final voice is a decision we want to make with you.</a:t>
            </a:r>
          </a:p>
          <a:p>
            <a:r>
              <a:t>- 'Why is population 'controlled'?' County totals are pinned to official population estimates, so they carry no sampling error; the API marks this with a sentinel that most tools -- including the standard Python client -- silently turn into a blank.</a:t>
            </a:r>
          </a:p>
          <a:p>
            <a:r>
              <a:t>- 'How real are these four cells?' Pulled live from the 2024 ACS 5-year API and assert-verified in notebook 14; the pipeline reproduces our hand-verified NJ income numbers to the dollar.</a:t>
            </a:r>
          </a:p>
          <a:p>
            <a:r>
              <a:t>- 'What decides the ranking?' Share of a table's county cells that are either precise (CV at or under 0.30, a published convention we cite descriptively) or controlled; unpublished tables rank at zero.</a:t>
            </a:r>
          </a:p>
          <a:p>
            <a:r>
              <a:t>- 'When do tracts come?' After the shortlist is agreed -- our NJ work already covers tract and block-group scale for income, so the extension is the same machinery pointed at smaller geographies.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604C"/>
                </a:solidFill>
                <a:latin typeface="Calibri"/>
              </a:rPr>
              <a:t>EDA 14  ·  FROM SURVEY TO PRODUCT  ·  EXPANSION PREVIEW  · 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761"/>
                </a:solidFill>
                <a:latin typeface="Calibri Light"/>
              </a:rPr>
              <a:t>One county, four verdicts — the reliability layer beyond income &amp; poverty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761"/>
                </a:solidFill>
                <a:latin typeface="Calibri"/>
              </a:rPr>
              <a:t>THE PRODUCT — every estimate answered in plain language (four real cells, Los Angeles County)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788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19656"/>
            <a:ext cx="2459736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5A6B85"/>
                </a:solidFill>
                <a:latin typeface="Calibri"/>
              </a:rPr>
              <a:t>Total population</a:t>
            </a:r>
          </a:p>
          <a:p>
            <a:pPr algn="l">
              <a:lnSpc>
                <a:spcPct val="102000"/>
              </a:lnSpc>
            </a:pPr>
            <a:r>
              <a:rPr sz="1700" b="1">
                <a:solidFill>
                  <a:srgbClr val="1E2761"/>
                </a:solidFill>
                <a:latin typeface="Calibri"/>
              </a:rPr>
              <a:t>9,808,667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1E2761"/>
                </a:solidFill>
                <a:latin typeface="Calibri"/>
              </a:rPr>
              <a:t>Exact by design — controlled to official population totals; no sampling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788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19656"/>
            <a:ext cx="2459736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5A6B85"/>
                </a:solidFill>
                <a:latin typeface="Calibri"/>
              </a:rPr>
              <a:t>Median gross rent</a:t>
            </a:r>
          </a:p>
          <a:p>
            <a:pPr algn="l">
              <a:lnSpc>
                <a:spcPct val="102000"/>
              </a:lnSpc>
            </a:pPr>
            <a:r>
              <a:rPr sz="1700" b="1">
                <a:solidFill>
                  <a:srgbClr val="1E2761"/>
                </a:solidFill>
                <a:latin typeface="Calibri"/>
              </a:rPr>
              <a:t>$1,954 ± $6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1E2761"/>
                </a:solidFill>
                <a:latin typeface="Calibri"/>
              </a:rPr>
              <a:t>CV 0.002 — the noise is one-fifth of one percent of the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788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28416"/>
            <a:ext cx="2459736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5A6B85"/>
                </a:solidFill>
                <a:latin typeface="Calibri"/>
              </a:rPr>
              <a:t>Ancestry: Senegalese</a:t>
            </a:r>
          </a:p>
          <a:p>
            <a:pPr algn="l">
              <a:lnSpc>
                <a:spcPct val="102000"/>
              </a:lnSpc>
            </a:pPr>
            <a:r>
              <a:rPr sz="1700" b="1">
                <a:solidFill>
                  <a:srgbClr val="1E2761"/>
                </a:solidFill>
                <a:latin typeface="Calibri"/>
              </a:rPr>
              <a:t>212 ± 140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E8604C"/>
                </a:solidFill>
                <a:latin typeface="Calibri"/>
              </a:rPr>
              <a:t>CV 0.40 — the error bar is two-thirds the size of the estimate itself.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00400"/>
            <a:ext cx="2788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328416"/>
            <a:ext cx="2459736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5A6B85"/>
                </a:solidFill>
                <a:latin typeface="Calibri"/>
              </a:rPr>
              <a:t>Language detail (42 languages)</a:t>
            </a:r>
          </a:p>
          <a:p>
            <a:pPr algn="l">
              <a:lnSpc>
                <a:spcPct val="102000"/>
              </a:lnSpc>
            </a:pPr>
            <a:r>
              <a:rPr sz="1700" b="1">
                <a:solidFill>
                  <a:srgbClr val="1E2761"/>
                </a:solidFill>
                <a:latin typeface="Calibri"/>
              </a:rPr>
              <a:t>—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5A6B85"/>
                </a:solidFill>
                <a:latin typeface="Calibri"/>
              </a:rPr>
              <a:t>Not published at county scale — this table needs a larger geography.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38988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761"/>
                </a:solidFill>
                <a:latin typeface="Calibri"/>
              </a:rPr>
              <a:t>THE CURATION — the survey ranking decides which tables earn a slot</a:t>
            </a:r>
          </a:p>
        </p:txBody>
      </p:sp>
      <p:pic>
        <p:nvPicPr>
          <p:cNvPr id="14" name="Picture 13" descr="eda14_table_reliability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5074920" cy="2656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4434840"/>
            <a:ext cx="5074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Calibri"/>
              </a:rPr>
              <a:t>Top-ranked tables (housing units, population, median age, income) enter the expanded tool first. Bottom-ranked tables still get honest treatment — “not published here” or “too noisy at this scale” — instead of silently looking fine.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3657600" cy="118872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" y="52395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522122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County pilot — underway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1F2937"/>
                </a:solidFill>
                <a:latin typeface="Calibri"/>
              </a:rPr>
              <a:t>The survey + scoring engine behind this slide: all 28,472 variables classified, verified against our NJ receipts.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074920"/>
            <a:ext cx="3657600" cy="118872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99432" y="52395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522122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Curated tables + imputation axis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1F2937"/>
                </a:solidFill>
                <a:latin typeface="Calibri"/>
              </a:rPr>
              <a:t>With your sign-off: the ranked shortlist ships, and the composite score (error bar × imputation) extends to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5074920"/>
            <a:ext cx="3657600" cy="118872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94776" y="52395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522122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Tract &amp; block-group scale</a:t>
            </a:r>
          </a:p>
          <a:p>
            <a:pPr algn="l">
              <a:lnSpc>
                <a:spcPct val="102000"/>
              </a:lnSpc>
            </a:pPr>
            <a:r>
              <a:rPr sz="950" b="0">
                <a:solidFill>
                  <a:srgbClr val="1F2937"/>
                </a:solidFill>
                <a:latin typeface="Calibri"/>
              </a:rPr>
              <a:t>Where planners actually work — and where our NJ EDA says error bars grow 3–10×. The design already generalizes.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B85"/>
                </a:solidFill>
                <a:latin typeface="Calibri"/>
              </a:rPr>
              <a:t>every value shown is a real cell from the EDA 14 pull (notebook 14, assert-verified) · verdict wording deliberately neutral — final voice to follow sponsor guidance     </a:t>
            </a:r>
            <a:r>
              <a:rPr sz="950" b="1">
                <a:solidFill>
                  <a:srgbClr val="E8604C"/>
                </a:solidFill>
                <a:latin typeface="Calibri"/>
              </a:rPr>
              <a:t>Ask for mentors: confirm the ACS-wide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