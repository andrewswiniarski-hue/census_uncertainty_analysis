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research passes, 2026-08-19 and 2026-08-24, ACS only. Every claim is labeled documented, proxy, or inferred.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Omitted from the table for space: business and GIS analysts (need 11, reach 5; Esri already ships reliability flags), general public and students (need 12, inferred), tribal data users (need 14, county geography does not align). Journalist tier is left open because the reach is documented and the need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412480" y="-1463040"/>
            <a:ext cx="5486400" cy="5486400"/>
          </a:xfrm>
          <a:prstGeom prst="ellipse">
            <a:avLst/>
          </a:prstGeom>
          <a:solidFill>
            <a:srgbClr val="141B3D"/>
          </a:solidFill>
          <a:ln w="12700">
            <a:solidFill>
              <a:srgbClr val="141B3D"/>
            </a:solidFill>
            <a:prstDash val="solid"/>
          </a:ln>
        </p:spPr>
      </p:sp>
      <p:sp>
        <p:nvSpPr>
          <p:cNvPr id="3" name="Text 1"/>
          <p:cNvSpPr/>
          <p:nvPr/>
        </p:nvSpPr>
        <p:spPr>
          <a:xfrm>
            <a:off x="548640" y="1920240"/>
            <a:ext cx="7863840" cy="14630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Who the tool is for, what they need, and why</a:t>
            </a:r>
            <a:endParaRPr lang="en-US" sz="4000" dirty="0"/>
          </a:p>
        </p:txBody>
      </p:sp>
      <p:sp>
        <p:nvSpPr>
          <p:cNvPr id="4" name="Text 2"/>
          <p:cNvSpPr/>
          <p:nvPr/>
        </p:nvSpPr>
        <p:spPr>
          <a:xfrm>
            <a:off x="548640" y="3474720"/>
            <a:ext cx="7315200" cy="914400"/>
          </a:xfrm>
          <a:prstGeom prst="rect">
            <a:avLst/>
          </a:prstGeom>
          <a:noFill/>
          <a:ln/>
        </p:spPr>
        <p:txBody>
          <a:bodyPr wrap="square" lIns="0" tIns="0" rIns="0" bIns="0" rtlCol="0" anchor="ctr"/>
          <a:lstStyle/>
          <a:p>
            <a:pPr indent="0" marL="0">
              <a:buNone/>
            </a:pPr>
            <a:r>
              <a:rPr lang="en-US" sz="1600" dirty="0">
                <a:solidFill>
                  <a:srgbClr val="C9D1E6"/>
                </a:solidFill>
                <a:latin typeface="Calibri" pitchFamily="34" charset="0"/>
                <a:ea typeface="Calibri" pitchFamily="34" charset="-122"/>
                <a:cs typeface="Calibri" pitchFamily="34" charset="-120"/>
              </a:rPr>
              <a:t>ACS uncertainty dashboard. User segments ranked by documented need, then by reach of a county-data tool, with function ideas for each.</a:t>
            </a:r>
            <a:endParaRPr lang="en-US" sz="1600" dirty="0"/>
          </a:p>
        </p:txBody>
      </p:sp>
      <p:sp>
        <p:nvSpPr>
          <p:cNvPr id="5" name="Text 3"/>
          <p:cNvSpPr/>
          <p:nvPr/>
        </p:nvSpPr>
        <p:spPr>
          <a:xfrm>
            <a:off x="548640" y="5852160"/>
            <a:ext cx="9144000" cy="320040"/>
          </a:xfrm>
          <a:prstGeom prst="rect">
            <a:avLst/>
          </a:prstGeom>
          <a:noFill/>
          <a:ln/>
        </p:spPr>
        <p:txBody>
          <a:bodyPr wrap="square" lIns="0" tIns="0" rIns="0" bIns="0" rtlCol="0" anchor="ctr"/>
          <a:lstStyle/>
          <a:p>
            <a:pPr indent="0" marL="0">
              <a:buNone/>
            </a:pPr>
            <a:r>
              <a:rPr lang="en-US" sz="1200" dirty="0">
                <a:solidFill>
                  <a:srgbClr val="C8A951"/>
                </a:solidFill>
                <a:latin typeface="Calibri" pitchFamily="34" charset="0"/>
                <a:ea typeface="Calibri" pitchFamily="34" charset="-122"/>
                <a:cs typeface="Calibri" pitchFamily="34" charset="-120"/>
              </a:rPr>
              <a:t>Census Uncertainty Capstone  ·  2026-08-24  ·  For discussion, not committed scope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One constraint shapes everything</a:t>
            </a:r>
            <a:endParaRPr lang="en-US" sz="3000" dirty="0"/>
          </a:p>
        </p:txBody>
      </p:sp>
      <p:sp>
        <p:nvSpPr>
          <p:cNvPr id="3" name="Text 1"/>
          <p:cNvSpPr/>
          <p:nvPr/>
        </p:nvSpPr>
        <p:spPr>
          <a:xfrm>
            <a:off x="548640" y="1078992"/>
            <a:ext cx="11091672" cy="457200"/>
          </a:xfrm>
          <a:prstGeom prst="rect">
            <a:avLst/>
          </a:prstGeom>
          <a:noFill/>
          <a:ln/>
        </p:spPr>
        <p:txBody>
          <a:bodyPr wrap="square" lIns="0" tIns="0" rIns="0" bIns="0" rtlCol="0" anchor="ctr"/>
          <a:lstStyle/>
          <a:p>
            <a:pPr indent="0" marL="0">
              <a:buNone/>
            </a:pPr>
            <a:r>
              <a:rPr lang="en-US" sz="1500" i="1" dirty="0">
                <a:solidFill>
                  <a:srgbClr val="5A6478"/>
                </a:solidFill>
                <a:latin typeface="Calibri" pitchFamily="34" charset="0"/>
                <a:ea typeface="Calibri" pitchFamily="34" charset="-122"/>
                <a:cs typeface="Calibri" pitchFamily="34" charset="-120"/>
              </a:rPr>
              <a:t>The data stops at county. The functions do not have to.</a:t>
            </a:r>
            <a:endParaRPr lang="en-US" sz="1500" dirty="0"/>
          </a:p>
        </p:txBody>
      </p:sp>
      <p:sp>
        <p:nvSpPr>
          <p:cNvPr id="4" name="Shape 2"/>
          <p:cNvSpPr/>
          <p:nvPr/>
        </p:nvSpPr>
        <p:spPr>
          <a:xfrm>
            <a:off x="548640" y="1783080"/>
            <a:ext cx="5394960" cy="3977640"/>
          </a:xfrm>
          <a:prstGeom prst="rect">
            <a:avLst/>
          </a:prstGeom>
          <a:solidFill>
            <a:srgbClr val="EEF1F8"/>
          </a:solidFill>
          <a:ln w="12700">
            <a:solidFill>
              <a:srgbClr val="EEF1F8"/>
            </a:solidFill>
            <a:prstDash val="solid"/>
          </a:ln>
        </p:spPr>
      </p:sp>
      <p:sp>
        <p:nvSpPr>
          <p:cNvPr id="5" name="Text 3"/>
          <p:cNvSpPr/>
          <p:nvPr/>
        </p:nvSpPr>
        <p:spPr>
          <a:xfrm>
            <a:off x="868680" y="1965960"/>
            <a:ext cx="475488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What the county limit means</a:t>
            </a:r>
            <a:endParaRPr lang="en-US" sz="1800" dirty="0"/>
          </a:p>
        </p:txBody>
      </p:sp>
      <p:sp>
        <p:nvSpPr>
          <p:cNvPr id="6" name="Text 4"/>
          <p:cNvSpPr/>
          <p:nvPr/>
        </p:nvSpPr>
        <p:spPr>
          <a:xfrm>
            <a:off x="868680" y="2423160"/>
            <a:ext cx="4754880" cy="338328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24304A"/>
                </a:solidFill>
                <a:latin typeface="Calibri" pitchFamily="34" charset="0"/>
                <a:ea typeface="Calibri" pitchFamily="34" charset="-122"/>
                <a:cs typeface="Calibri" pitchFamily="34" charset="-120"/>
              </a:rPr>
              <a:t>The map, the reliability card, and the allocation view can only show counties.</a:t>
            </a:r>
            <a:endParaRPr lang="en-US" sz="1350" dirty="0"/>
          </a:p>
          <a:p>
            <a:pPr marL="342900" indent="-342900">
              <a:spcAft>
                <a:spcPts val="800"/>
              </a:spcAft>
              <a:buSzPct val="100000"/>
              <a:buChar char="•"/>
            </a:pPr>
            <a:r>
              <a:rPr lang="en-US" sz="1350" dirty="0">
                <a:solidFill>
                  <a:srgbClr val="24304A"/>
                </a:solidFill>
                <a:latin typeface="Calibri" pitchFamily="34" charset="0"/>
                <a:ea typeface="Calibri" pitchFamily="34" charset="-122"/>
                <a:cs typeface="Calibri" pitchFamily="34" charset="-120"/>
              </a:rPr>
              <a:t>A significance test, a propagated margin, a vintage warning, and a cutoff check work on any estimate and MOE the user brings, at any geography.</a:t>
            </a:r>
            <a:endParaRPr lang="en-US" sz="1350" dirty="0"/>
          </a:p>
          <a:p>
            <a:pPr marL="342900" indent="-342900">
              <a:spcAft>
                <a:spcPts val="800"/>
              </a:spcAft>
              <a:buSzPct val="100000"/>
              <a:buChar char="•"/>
            </a:pPr>
            <a:r>
              <a:rPr lang="en-US" sz="1350" dirty="0">
                <a:solidFill>
                  <a:srgbClr val="24304A"/>
                </a:solidFill>
                <a:latin typeface="Calibri" pitchFamily="34" charset="0"/>
                <a:ea typeface="Calibri" pitchFamily="34" charset="-122"/>
                <a:cs typeface="Calibri" pitchFamily="34" charset="-120"/>
              </a:rPr>
              <a:t>So the constraint limits what the tool displays, not what it computes.</a:t>
            </a:r>
            <a:endParaRPr lang="en-US" sz="1350" dirty="0"/>
          </a:p>
          <a:p>
            <a:pPr marL="342900" indent="-342900">
              <a:buSzPct val="100000"/>
              <a:buChar char="•"/>
            </a:pPr>
            <a:r>
              <a:rPr lang="en-US" sz="1350" dirty="0">
                <a:solidFill>
                  <a:srgbClr val="24304A"/>
                </a:solidFill>
                <a:latin typeface="Calibri" pitchFamily="34" charset="0"/>
                <a:ea typeface="Calibri" pitchFamily="34" charset="-122"/>
                <a:cs typeface="Calibri" pitchFamily="34" charset="-120"/>
              </a:rPr>
              <a:t>Earlier research graded users on fit with county before grading on need. That demoted the users with the best-documented pain. This deck ranks need first.</a:t>
            </a:r>
            <a:endParaRPr lang="en-US" sz="1350" dirty="0"/>
          </a:p>
        </p:txBody>
      </p:sp>
      <p:sp>
        <p:nvSpPr>
          <p:cNvPr id="7" name="Text 5"/>
          <p:cNvSpPr/>
          <p:nvPr/>
        </p:nvSpPr>
        <p:spPr>
          <a:xfrm>
            <a:off x="6400800" y="1828800"/>
            <a:ext cx="521208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Two tiers of users</a:t>
            </a:r>
            <a:endParaRPr lang="en-US" sz="1800" dirty="0"/>
          </a:p>
        </p:txBody>
      </p:sp>
      <p:sp>
        <p:nvSpPr>
          <p:cNvPr id="8" name="Shape 6"/>
          <p:cNvSpPr/>
          <p:nvPr/>
        </p:nvSpPr>
        <p:spPr>
          <a:xfrm>
            <a:off x="6400800" y="2331720"/>
            <a:ext cx="5212080" cy="1600200"/>
          </a:xfrm>
          <a:prstGeom prst="rect">
            <a:avLst/>
          </a:prstGeom>
          <a:solidFill>
            <a:srgbClr val="C8A951"/>
          </a:solidFill>
          <a:ln w="12700">
            <a:solidFill>
              <a:srgbClr val="C8A951"/>
            </a:solidFill>
            <a:prstDash val="solid"/>
          </a:ln>
        </p:spPr>
      </p:sp>
      <p:sp>
        <p:nvSpPr>
          <p:cNvPr id="9" name="Text 7"/>
          <p:cNvSpPr/>
          <p:nvPr/>
        </p:nvSpPr>
        <p:spPr>
          <a:xfrm>
            <a:off x="6675120" y="2468880"/>
            <a:ext cx="1097280" cy="36576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Tier 1</a:t>
            </a:r>
            <a:endParaRPr lang="en-US" sz="2000" dirty="0"/>
          </a:p>
        </p:txBody>
      </p:sp>
      <p:sp>
        <p:nvSpPr>
          <p:cNvPr id="10" name="Text 8"/>
          <p:cNvSpPr/>
          <p:nvPr/>
        </p:nvSpPr>
        <p:spPr>
          <a:xfrm>
            <a:off x="7772400" y="2468880"/>
            <a:ext cx="3657600" cy="36576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Documented need, working at or near county</a:t>
            </a:r>
            <a:endParaRPr lang="en-US" sz="1200" dirty="0"/>
          </a:p>
        </p:txBody>
      </p:sp>
      <p:sp>
        <p:nvSpPr>
          <p:cNvPr id="11" name="Text 9"/>
          <p:cNvSpPr/>
          <p:nvPr/>
        </p:nvSpPr>
        <p:spPr>
          <a:xfrm>
            <a:off x="6675120" y="2926080"/>
            <a:ext cx="4663440" cy="914400"/>
          </a:xfrm>
          <a:prstGeom prst="rect">
            <a:avLst/>
          </a:prstGeom>
          <a:noFill/>
          <a:ln/>
        </p:spPr>
        <p:txBody>
          <a:bodyPr wrap="square" lIns="0" tIns="0" rIns="0" bIns="0" rtlCol="0" anchor="t"/>
          <a:lstStyle/>
          <a:p>
            <a:pPr indent="0" marL="0">
              <a:buNone/>
            </a:pPr>
            <a:r>
              <a:rPr lang="en-US" sz="1250" dirty="0">
                <a:solidFill>
                  <a:srgbClr val="1E2761"/>
                </a:solidFill>
                <a:latin typeface="Calibri" pitchFamily="34" charset="0"/>
                <a:ea typeface="Calibri" pitchFamily="34" charset="-122"/>
                <a:cs typeface="Calibri" pitchFamily="34" charset="-120"/>
              </a:rPr>
              <a:t>Program staff, small-county officials, state data centers. Their decision geography already matches the data.</a:t>
            </a:r>
            <a:endParaRPr lang="en-US" sz="1250" dirty="0"/>
          </a:p>
        </p:txBody>
      </p:sp>
      <p:sp>
        <p:nvSpPr>
          <p:cNvPr id="12" name="Shape 10"/>
          <p:cNvSpPr/>
          <p:nvPr/>
        </p:nvSpPr>
        <p:spPr>
          <a:xfrm>
            <a:off x="6400800" y="4160520"/>
            <a:ext cx="5212080" cy="1600200"/>
          </a:xfrm>
          <a:prstGeom prst="rect">
            <a:avLst/>
          </a:prstGeom>
          <a:solidFill>
            <a:srgbClr val="1E2761"/>
          </a:solidFill>
          <a:ln w="12700">
            <a:solidFill>
              <a:srgbClr val="1E2761"/>
            </a:solidFill>
            <a:prstDash val="solid"/>
          </a:ln>
        </p:spPr>
      </p:sp>
      <p:sp>
        <p:nvSpPr>
          <p:cNvPr id="13" name="Text 11"/>
          <p:cNvSpPr/>
          <p:nvPr/>
        </p:nvSpPr>
        <p:spPr>
          <a:xfrm>
            <a:off x="6675120" y="4297680"/>
            <a:ext cx="109728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Tier 2</a:t>
            </a:r>
            <a:endParaRPr lang="en-US" sz="2000" dirty="0"/>
          </a:p>
        </p:txBody>
      </p:sp>
      <p:sp>
        <p:nvSpPr>
          <p:cNvPr id="14" name="Text 12"/>
          <p:cNvSpPr/>
          <p:nvPr/>
        </p:nvSpPr>
        <p:spPr>
          <a:xfrm>
            <a:off x="7772400" y="429768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Strongest documented need, working below county</a:t>
            </a:r>
            <a:endParaRPr lang="en-US" sz="1200" dirty="0"/>
          </a:p>
        </p:txBody>
      </p:sp>
      <p:sp>
        <p:nvSpPr>
          <p:cNvPr id="15" name="Text 13"/>
          <p:cNvSpPr/>
          <p:nvPr/>
        </p:nvSpPr>
        <p:spPr>
          <a:xfrm>
            <a:off x="6675120" y="4754880"/>
            <a:ext cx="4663440" cy="9144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Planners, academics, health-index builders, transportation analysts, housing, EJ, community groups. Reached only through geography-free functions.</a:t>
            </a:r>
            <a:endParaRPr lang="en-US" sz="1250" dirty="0"/>
          </a:p>
        </p:txBody>
      </p:sp>
      <p:sp>
        <p:nvSpPr>
          <p:cNvPr id="16" name="Text 14"/>
          <p:cNvSpPr/>
          <p:nvPr/>
        </p:nvSpPr>
        <p:spPr>
          <a:xfrm>
            <a:off x="548640" y="6355080"/>
            <a:ext cx="11091672" cy="27432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Journalists sit between tiers: high reach, thin evidence of need. Addressed on its own slide.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users at a glance</a:t>
            </a:r>
            <a:endParaRPr lang="en-US" sz="3000" dirty="0"/>
          </a:p>
        </p:txBody>
      </p:sp>
      <p:sp>
        <p:nvSpPr>
          <p:cNvPr id="3" name="Text 1"/>
          <p:cNvSpPr/>
          <p:nvPr/>
        </p:nvSpPr>
        <p:spPr>
          <a:xfrm>
            <a:off x="548640" y="1078992"/>
            <a:ext cx="11091672" cy="457200"/>
          </a:xfrm>
          <a:prstGeom prst="rect">
            <a:avLst/>
          </a:prstGeom>
          <a:noFill/>
          <a:ln/>
        </p:spPr>
        <p:txBody>
          <a:bodyPr wrap="square" lIns="0" tIns="0" rIns="0" bIns="0" rtlCol="0" anchor="ctr"/>
          <a:lstStyle/>
          <a:p>
            <a:pPr indent="0" marL="0">
              <a:buNone/>
            </a:pPr>
            <a:r>
              <a:rPr lang="en-US" sz="1500" i="1" dirty="0">
                <a:solidFill>
                  <a:srgbClr val="5A6478"/>
                </a:solidFill>
                <a:latin typeface="Calibri" pitchFamily="34" charset="0"/>
                <a:ea typeface="Calibri" pitchFamily="34" charset="-122"/>
                <a:cs typeface="Calibri" pitchFamily="34" charset="-120"/>
              </a:rPr>
              <a:t>Ranked by documented uncertainty need, geography ignored. Reach shown separately.</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1828800"/>
                <a:gridCol w="1600200"/>
                <a:gridCol w="2606040"/>
                <a:gridCol w="3566160"/>
                <a:gridCol w="502920"/>
                <a:gridCol w="502920"/>
                <a:gridCol w="484632"/>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Segment</a:t>
                      </a:r>
                      <a:endParaRPr lang="en-US" sz="110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Works at</a:t>
                      </a:r>
                      <a:endParaRPr lang="en-US" sz="110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The decision the number feeds</a:t>
                      </a:r>
                      <a:endParaRPr lang="en-US" sz="110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Evidence of uncertainty pain</a:t>
                      </a:r>
                      <a:endParaRPr lang="en-US" sz="110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Need</a:t>
                      </a:r>
                      <a:endParaRPr lang="en-US" sz="110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Reach</a:t>
                      </a:r>
                      <a:endParaRPr lang="en-US" sz="110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Tier</a:t>
                      </a:r>
                      <a:endParaRPr lang="en-US" sz="110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1E2761"/>
                    </a:solidFill>
                  </a:tcPr>
                </a:tc>
              </a:tr>
              <a:tr h="329184">
                <a:tc>
                  <a:txBody>
                    <a:bodyPr/>
                    <a:lstStyle/>
                    <a:p>
                      <a:pPr indent="0" marL="0">
                        <a:buNone/>
                      </a:pPr>
                      <a:r>
                        <a:rPr lang="en-US" sz="1050" b="1" dirty="0">
                          <a:solidFill>
                            <a:srgbClr val="24304A"/>
                          </a:solidFill>
                          <a:latin typeface="Calibri" pitchFamily="34" charset="0"/>
                          <a:ea typeface="Calibri" pitchFamily="34" charset="-122"/>
                          <a:cs typeface="Calibri" pitchFamily="34" charset="-120"/>
                        </a:rPr>
                        <a:t>Planners</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Tract, block group, place</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Comprehensive plans, needs assessments, grant justifications</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Jurjevich et al. 2018, n=200 survey: many do not understand MOE and stop reporting it</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b="1" dirty="0">
                          <a:solidFill>
                            <a:srgbClr val="24304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r>
              <a:tr h="329184">
                <a:tc>
                  <a:txBody>
                    <a:bodyPr/>
                    <a:lstStyle/>
                    <a:p>
                      <a:pPr indent="0" marL="0">
                        <a:buNone/>
                      </a:pPr>
                      <a:r>
                        <a:rPr lang="en-US" sz="1050" b="1" dirty="0">
                          <a:solidFill>
                            <a:srgbClr val="24304A"/>
                          </a:solidFill>
                          <a:latin typeface="Calibri" pitchFamily="34" charset="0"/>
                          <a:ea typeface="Calibri" pitchFamily="34" charset="-122"/>
                          <a:cs typeface="Calibri" pitchFamily="34" charset="-120"/>
                        </a:rPr>
                        <a:t>Academics, published tables</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Tract, block group, PUMA</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Indices, small-area models, published research</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Using ACS standard errors is "not yet standard practice"; segregation indices built without MOE</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b="1" dirty="0">
                          <a:solidFill>
                            <a:srgbClr val="24304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r>
              <a:tr h="329184">
                <a:tc>
                  <a:txBody>
                    <a:bodyPr/>
                    <a:lstStyle/>
                    <a:p>
                      <a:pPr indent="0" marL="0">
                        <a:buNone/>
                      </a:pPr>
                      <a:r>
                        <a:rPr lang="en-US" sz="1050" b="1" dirty="0">
                          <a:solidFill>
                            <a:srgbClr val="24304A"/>
                          </a:solidFill>
                          <a:latin typeface="Calibri" pitchFamily="34" charset="0"/>
                          <a:ea typeface="Calibri" pitchFamily="34" charset="-122"/>
                          <a:cs typeface="Calibri" pitchFamily="34" charset="-120"/>
                        </a:rPr>
                        <a:t>Health-index builders</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Block group, tract</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SVI and ADI, which feed CMS payment rules</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Health Affairs: ADI unstable at block group; SVI ships MOEs but ignores them in ranks</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b="1" dirty="0">
                          <a:solidFill>
                            <a:srgbClr val="24304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r>
              <a:tr h="329184">
                <a:tc>
                  <a:txBody>
                    <a:bodyPr/>
                    <a:lstStyle/>
                    <a:p>
                      <a:pPr indent="0" marL="0">
                        <a:buNone/>
                      </a:pPr>
                      <a:r>
                        <a:rPr lang="en-US" sz="1050" b="1" dirty="0">
                          <a:solidFill>
                            <a:srgbClr val="24304A"/>
                          </a:solidFill>
                          <a:latin typeface="Calibri" pitchFamily="34" charset="0"/>
                          <a:ea typeface="Calibri" pitchFamily="34" charset="-122"/>
                          <a:cs typeface="Calibri" pitchFamily="34" charset="-120"/>
                        </a:rPr>
                        <a:t>Transportation and MPOs</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TAZ, tract</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Travel-demand models, Title VI</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CTPP publishes MOE; AASHTO trains on significance testing</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b="1" dirty="0">
                          <a:solidFill>
                            <a:srgbClr val="24304A"/>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r>
              <a:tr h="329184">
                <a:tc>
                  <a:txBody>
                    <a:bodyPr/>
                    <a:lstStyle/>
                    <a:p>
                      <a:pPr indent="0" marL="0">
                        <a:buNone/>
                      </a:pPr>
                      <a:r>
                        <a:rPr lang="en-US" sz="1050" b="1" dirty="0">
                          <a:solidFill>
                            <a:srgbClr val="24304A"/>
                          </a:solidFill>
                          <a:latin typeface="Calibri" pitchFamily="34" charset="0"/>
                          <a:ea typeface="Calibri" pitchFamily="34" charset="-122"/>
                          <a:cs typeface="Calibri" pitchFamily="34" charset="-120"/>
                        </a:rPr>
                        <a:t>Program staff (ACS programs)</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County, place, block group</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CDBG, VRA 203, HUD income limits, ARC distress</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Nesse and Rahe 2015: MOE "adds complexity" without better implementation</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c>
                  <a:txBody>
                    <a:bodyPr/>
                    <a:lstStyle/>
                    <a:p>
                      <a:pPr algn="ctr" indent="0" marL="0">
                        <a:buNone/>
                      </a:pPr>
                      <a:r>
                        <a:rPr lang="en-US" sz="1050" b="1" dirty="0">
                          <a:solidFill>
                            <a:srgbClr val="24304A"/>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r>
              <a:tr h="329184">
                <a:tc>
                  <a:txBody>
                    <a:bodyPr/>
                    <a:lstStyle/>
                    <a:p>
                      <a:pPr indent="0" marL="0">
                        <a:buNone/>
                      </a:pPr>
                      <a:r>
                        <a:rPr lang="en-US" sz="1050" b="1" dirty="0">
                          <a:solidFill>
                            <a:srgbClr val="24304A"/>
                          </a:solidFill>
                          <a:latin typeface="Calibri" pitchFamily="34" charset="0"/>
                          <a:ea typeface="Calibri" pitchFamily="34" charset="-122"/>
                          <a:cs typeface="Calibri" pitchFamily="34" charset="-120"/>
                        </a:rPr>
                        <a:t>Housing and community development</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Block group to county</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Consolidated Plans, LIHTC studies</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CHAS tool does not surface MOE; HUD reports it inconsistently</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b="1" dirty="0">
                          <a:solidFill>
                            <a:srgbClr val="24304A"/>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r>
              <a:tr h="329184">
                <a:tc>
                  <a:txBody>
                    <a:bodyPr/>
                    <a:lstStyle/>
                    <a:p>
                      <a:pPr indent="0" marL="0">
                        <a:buNone/>
                      </a:pPr>
                      <a:r>
                        <a:rPr lang="en-US" sz="1050" b="1" dirty="0">
                          <a:solidFill>
                            <a:srgbClr val="24304A"/>
                          </a:solidFill>
                          <a:latin typeface="Calibri" pitchFamily="34" charset="0"/>
                          <a:ea typeface="Calibri" pitchFamily="34" charset="-122"/>
                          <a:cs typeface="Calibri" pitchFamily="34" charset="-120"/>
                        </a:rPr>
                        <a:t>EJ analysts</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Block group</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Screening, permitting, targeting</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EJScreen docs concede MOE grows as population shrinks; tool hides it</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b="1" dirty="0">
                          <a:solidFill>
                            <a:srgbClr val="24304A"/>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r>
              <a:tr h="329184">
                <a:tc>
                  <a:txBody>
                    <a:bodyPr/>
                    <a:lstStyle/>
                    <a:p>
                      <a:pPr indent="0" marL="0">
                        <a:buNone/>
                      </a:pPr>
                      <a:r>
                        <a:rPr lang="en-US" sz="1050" b="1" dirty="0">
                          <a:solidFill>
                            <a:srgbClr val="24304A"/>
                          </a:solidFill>
                          <a:latin typeface="Calibri" pitchFamily="34" charset="0"/>
                          <a:ea typeface="Calibri" pitchFamily="34" charset="-122"/>
                          <a:cs typeface="Calibri" pitchFamily="34" charset="-120"/>
                        </a:rPr>
                        <a:t>Small-county officials</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County</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Eligibility for rural grants</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About 74% of counties are 5-year-only; Jurjevich 2019: margins disregarded</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c>
                  <a:txBody>
                    <a:bodyPr/>
                    <a:lstStyle/>
                    <a:p>
                      <a:pPr algn="ctr" indent="0" marL="0">
                        <a:buNone/>
                      </a:pPr>
                      <a:r>
                        <a:rPr lang="en-US" sz="1050" b="1" dirty="0">
                          <a:solidFill>
                            <a:srgbClr val="24304A"/>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r>
              <a:tr h="329184">
                <a:tc>
                  <a:txBody>
                    <a:bodyPr/>
                    <a:lstStyle/>
                    <a:p>
                      <a:pPr indent="0" marL="0">
                        <a:buNone/>
                      </a:pPr>
                      <a:r>
                        <a:rPr lang="en-US" sz="1050" b="1" dirty="0">
                          <a:solidFill>
                            <a:srgbClr val="24304A"/>
                          </a:solidFill>
                          <a:latin typeface="Calibri" pitchFamily="34" charset="0"/>
                          <a:ea typeface="Calibri" pitchFamily="34" charset="-122"/>
                          <a:cs typeface="Calibri" pitchFamily="34" charset="-120"/>
                        </a:rPr>
                        <a:t>Community organizations</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Neighborhood</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Grant applications, indicators</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NNIP partners write their own MOE guides</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b="1" dirty="0">
                          <a:solidFill>
                            <a:srgbClr val="24304A"/>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3F5FA"/>
                    </a:solidFill>
                  </a:tcPr>
                </a:tc>
              </a:tr>
              <a:tr h="329184">
                <a:tc>
                  <a:txBody>
                    <a:bodyPr/>
                    <a:lstStyle/>
                    <a:p>
                      <a:pPr indent="0" marL="0">
                        <a:buNone/>
                      </a:pPr>
                      <a:r>
                        <a:rPr lang="en-US" sz="1050" b="1" dirty="0">
                          <a:solidFill>
                            <a:srgbClr val="24304A"/>
                          </a:solidFill>
                          <a:latin typeface="Calibri" pitchFamily="34" charset="0"/>
                          <a:ea typeface="Calibri" pitchFamily="34" charset="-122"/>
                          <a:cs typeface="Calibri" pitchFamily="34" charset="-120"/>
                        </a:rPr>
                        <a:t>State data centers</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County, state</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Guidance and training for local users</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Publish CV thresholds; field the questions</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c>
                  <a:txBody>
                    <a:bodyPr/>
                    <a:lstStyle/>
                    <a:p>
                      <a:pPr algn="ctr" indent="0" marL="0">
                        <a:buNone/>
                      </a:pPr>
                      <a:r>
                        <a:rPr lang="en-US" sz="1050" b="1" dirty="0">
                          <a:solidFill>
                            <a:srgbClr val="24304A"/>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7F1DF"/>
                    </a:solidFill>
                  </a:tcPr>
                </a:tc>
              </a:tr>
              <a:tr h="329184">
                <a:tc>
                  <a:txBody>
                    <a:bodyPr/>
                    <a:lstStyle/>
                    <a:p>
                      <a:pPr indent="0" marL="0">
                        <a:buNone/>
                      </a:pPr>
                      <a:r>
                        <a:rPr lang="en-US" sz="1050" b="1" dirty="0">
                          <a:solidFill>
                            <a:srgbClr val="24304A"/>
                          </a:solidFill>
                          <a:latin typeface="Calibri" pitchFamily="34" charset="0"/>
                          <a:ea typeface="Calibri" pitchFamily="34" charset="-122"/>
                          <a:cs typeface="Calibri" pitchFamily="34" charset="-120"/>
                        </a:rPr>
                        <a:t>Journalists</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FFFFF"/>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County, place</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FFFFF"/>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Is this solid enough to print</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FFFFF"/>
                    </a:solidFill>
                  </a:tcPr>
                </a:tc>
                <a:tc>
                  <a:txBody>
                    <a:bodyPr/>
                    <a:lstStyle/>
                    <a:p>
                      <a:pPr indent="0" marL="0">
                        <a:buNone/>
                      </a:pPr>
                      <a:r>
                        <a:rPr lang="en-US" sz="1050" dirty="0">
                          <a:solidFill>
                            <a:srgbClr val="24304A"/>
                          </a:solidFill>
                          <a:latin typeface="Calibri" pitchFamily="34" charset="0"/>
                          <a:ea typeface="Calibri" pitchFamily="34" charset="-122"/>
                          <a:cs typeface="Calibri" pitchFamily="34" charset="-120"/>
                        </a:rPr>
                        <a:t>Guidance exists; no study of actual practice located</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4304A"/>
                          </a:solidFill>
                          <a:latin typeface="Calibri" pitchFamily="34" charset="0"/>
                          <a:ea typeface="Calibri" pitchFamily="34" charset="-122"/>
                          <a:cs typeface="Calibri" pitchFamily="34" charset="-120"/>
                        </a:rPr>
                        <a:t>13</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4304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45720" marR="45720" marT="45720" marB="45720" anchor="ctr">
                    <a:lnL w="6350" cap="flat" cmpd="sng" algn="ctr">
                      <a:solidFill>
                        <a:srgbClr val="DDE3EF"/>
                      </a:solidFill>
                      <a:prstDash val="solid"/>
                      <a:round/>
                      <a:headEnd type="none" w="med" len="med"/>
                      <a:tailEnd type="none" w="med" len="med"/>
                    </a:lnL>
                    <a:lnR w="6350" cap="flat" cmpd="sng" algn="ctr">
                      <a:solidFill>
                        <a:srgbClr val="DDE3EF"/>
                      </a:solidFill>
                      <a:prstDash val="solid"/>
                      <a:round/>
                      <a:headEnd type="none" w="med" len="med"/>
                      <a:tailEnd type="none" w="med" len="med"/>
                    </a:lnR>
                    <a:lnT w="6350" cap="flat" cmpd="sng" algn="ctr">
                      <a:solidFill>
                        <a:srgbClr val="DDE3EF"/>
                      </a:solidFill>
                      <a:prstDash val="solid"/>
                      <a:round/>
                      <a:headEnd type="none" w="med" len="med"/>
                      <a:tailEnd type="none" w="med" len="med"/>
                    </a:lnT>
                    <a:lnB w="6350" cap="flat" cmpd="sng" algn="ctr">
                      <a:solidFill>
                        <a:srgbClr val="DDE3EF"/>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355080"/>
            <a:ext cx="11091672" cy="27432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Need rank: documented evidence, geography ignored. Reach rank: how well a county-data tool with bring-your-own-numbers serves them. Gold rows are Tier 1. Three segments omitted; see notes.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Program staff running on ACS</a:t>
            </a:r>
            <a:endParaRPr lang="en-US" sz="3000" dirty="0"/>
          </a:p>
        </p:txBody>
      </p:sp>
      <p:sp>
        <p:nvSpPr>
          <p:cNvPr id="3" name="Text 1"/>
          <p:cNvSpPr/>
          <p:nvPr/>
        </p:nvSpPr>
        <p:spPr>
          <a:xfrm>
            <a:off x="548640" y="1078992"/>
            <a:ext cx="11091672" cy="457200"/>
          </a:xfrm>
          <a:prstGeom prst="rect">
            <a:avLst/>
          </a:prstGeom>
          <a:noFill/>
          <a:ln/>
        </p:spPr>
        <p:txBody>
          <a:bodyPr wrap="square" lIns="0" tIns="0" rIns="0" bIns="0" rtlCol="0" anchor="ctr"/>
          <a:lstStyle/>
          <a:p>
            <a:pPr indent="0" marL="0">
              <a:buNone/>
            </a:pPr>
            <a:r>
              <a:rPr lang="en-US" sz="1500" i="1" dirty="0">
                <a:solidFill>
                  <a:srgbClr val="5A6478"/>
                </a:solidFill>
                <a:latin typeface="Calibri" pitchFamily="34" charset="0"/>
                <a:ea typeface="Calibri" pitchFamily="34" charset="-122"/>
                <a:cs typeface="Calibri" pitchFamily="34" charset="-120"/>
              </a:rPr>
              <a:t>Money moves and legal determinations get made on a point estimate.</a:t>
            </a:r>
            <a:endParaRPr lang="en-US" sz="1500" dirty="0"/>
          </a:p>
        </p:txBody>
      </p:sp>
      <p:sp>
        <p:nvSpPr>
          <p:cNvPr id="4" name="Shape 2"/>
          <p:cNvSpPr/>
          <p:nvPr/>
        </p:nvSpPr>
        <p:spPr>
          <a:xfrm>
            <a:off x="10177272" y="502920"/>
            <a:ext cx="1463040" cy="274320"/>
          </a:xfrm>
          <a:prstGeom prst="roundRect">
            <a:avLst>
              <a:gd name="adj" fmla="val 50000"/>
            </a:avLst>
          </a:prstGeom>
          <a:solidFill>
            <a:srgbClr val="C8A951"/>
          </a:solidFill>
          <a:ln w="12700">
            <a:solidFill>
              <a:srgbClr val="C8A951"/>
            </a:solidFill>
            <a:prstDash val="solid"/>
          </a:ln>
        </p:spPr>
      </p:sp>
      <p:sp>
        <p:nvSpPr>
          <p:cNvPr id="5" name="Text 3"/>
          <p:cNvSpPr/>
          <p:nvPr/>
        </p:nvSpPr>
        <p:spPr>
          <a:xfrm>
            <a:off x="10177272" y="502920"/>
            <a:ext cx="1463040" cy="274320"/>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Tier 1</a:t>
            </a:r>
            <a:endParaRPr lang="en-US" sz="1000" dirty="0"/>
          </a:p>
        </p:txBody>
      </p:sp>
      <p:sp>
        <p:nvSpPr>
          <p:cNvPr id="6" name="Shape 4"/>
          <p:cNvSpPr/>
          <p:nvPr/>
        </p:nvSpPr>
        <p:spPr>
          <a:xfrm>
            <a:off x="548640" y="1691640"/>
            <a:ext cx="3749040" cy="4526280"/>
          </a:xfrm>
          <a:prstGeom prst="rect">
            <a:avLst/>
          </a:prstGeom>
          <a:solidFill>
            <a:srgbClr val="1E2761"/>
          </a:solidFill>
          <a:ln w="12700">
            <a:solidFill>
              <a:srgbClr val="1E2761"/>
            </a:solidFill>
            <a:prstDash val="solid"/>
          </a:ln>
        </p:spPr>
      </p:sp>
      <p:sp>
        <p:nvSpPr>
          <p:cNvPr id="7" name="Shape 5"/>
          <p:cNvSpPr/>
          <p:nvPr/>
        </p:nvSpPr>
        <p:spPr>
          <a:xfrm>
            <a:off x="822960" y="1965960"/>
            <a:ext cx="640080" cy="640080"/>
          </a:xfrm>
          <a:prstGeom prst="ellipse">
            <a:avLst/>
          </a:prstGeom>
          <a:solidFill>
            <a:srgbClr val="141B3D"/>
          </a:solidFill>
          <a:ln w="12700">
            <a:solidFill>
              <a:srgbClr val="141B3D"/>
            </a:solidFill>
            <a:prstDash val="solid"/>
          </a:ln>
        </p:spPr>
      </p:sp>
      <p:pic>
        <p:nvPicPr>
          <p:cNvPr id="8" name="Image 0" descr="preencoded.png">    </p:cNvPr>
          <p:cNvPicPr>
            <a:picLocks noChangeAspect="1"/>
          </p:cNvPicPr>
          <p:nvPr/>
        </p:nvPicPr>
        <p:blipFill>
          <a:blip r:embed="rId1"/>
          <a:stretch>
            <a:fillRect/>
          </a:stretch>
        </p:blipFill>
        <p:spPr>
          <a:xfrm>
            <a:off x="976579" y="2119579"/>
            <a:ext cx="332842" cy="332842"/>
          </a:xfrm>
          <a:prstGeom prst="rect">
            <a:avLst/>
          </a:prstGeom>
        </p:spPr>
      </p:pic>
      <p:sp>
        <p:nvSpPr>
          <p:cNvPr id="9" name="Text 6"/>
          <p:cNvSpPr/>
          <p:nvPr/>
        </p:nvSpPr>
        <p:spPr>
          <a:xfrm>
            <a:off x="1600200" y="1965960"/>
            <a:ext cx="2286000" cy="6400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Who</a:t>
            </a:r>
            <a:endParaRPr lang="en-US" sz="1800" dirty="0"/>
          </a:p>
        </p:txBody>
      </p:sp>
      <p:sp>
        <p:nvSpPr>
          <p:cNvPr id="10" name="Text 7"/>
          <p:cNvSpPr/>
          <p:nvPr/>
        </p:nvSpPr>
        <p:spPr>
          <a:xfrm>
            <a:off x="822960" y="2743200"/>
            <a:ext cx="3200400" cy="1417320"/>
          </a:xfrm>
          <a:prstGeom prst="rect">
            <a:avLst/>
          </a:prstGeom>
          <a:noFill/>
          <a:ln/>
        </p:spPr>
        <p:txBody>
          <a:bodyPr wrap="square" lIns="0" tIns="0" rIns="0" bIns="0" rtlCol="0" anchor="t"/>
          <a:lstStyle/>
          <a:p>
            <a:pPr indent="0" marL="0">
              <a:buNone/>
            </a:pPr>
            <a:r>
              <a:rPr lang="en-US" sz="1300" dirty="0">
                <a:solidFill>
                  <a:srgbClr val="DCE2F2"/>
                </a:solidFill>
                <a:latin typeface="Calibri" pitchFamily="34" charset="0"/>
                <a:ea typeface="Calibri" pitchFamily="34" charset="-122"/>
                <a:cs typeface="Calibri" pitchFamily="34" charset="-120"/>
              </a:rPr>
              <a:t>Federal and state staff administering CDBG, VRA Section 203, HUD income limits and fair market rents, LIHEAP (via PUMS), EJScreen, and ARC distressed-area designations.</a:t>
            </a:r>
            <a:endParaRPr lang="en-US" sz="1300" dirty="0"/>
          </a:p>
        </p:txBody>
      </p:sp>
      <p:sp>
        <p:nvSpPr>
          <p:cNvPr id="11" name="Text 8"/>
          <p:cNvSpPr/>
          <p:nvPr/>
        </p:nvSpPr>
        <p:spPr>
          <a:xfrm>
            <a:off x="822960" y="4206240"/>
            <a:ext cx="3200400" cy="822960"/>
          </a:xfrm>
          <a:prstGeom prst="rect">
            <a:avLst/>
          </a:prstGeom>
          <a:noFill/>
          <a:ln/>
        </p:spPr>
        <p:txBody>
          <a:bodyPr wrap="square" lIns="0" tIns="0" rIns="0" bIns="0" rtlCol="0" anchor="ctr"/>
          <a:lstStyle/>
          <a:p>
            <a:pPr indent="0" marL="0">
              <a:buNone/>
            </a:pPr>
            <a:r>
              <a:rPr lang="en-US" sz="4000" b="1" dirty="0">
                <a:solidFill>
                  <a:srgbClr val="C8A951"/>
                </a:solidFill>
                <a:latin typeface="Cambria" pitchFamily="34" charset="0"/>
                <a:ea typeface="Cambria" pitchFamily="34" charset="-122"/>
                <a:cs typeface="Cambria" pitchFamily="34" charset="-120"/>
              </a:rPr>
              <a:t>1,163</a:t>
            </a:r>
            <a:endParaRPr lang="en-US" sz="4000" dirty="0"/>
          </a:p>
        </p:txBody>
      </p:sp>
      <p:sp>
        <p:nvSpPr>
          <p:cNvPr id="12" name="Text 9"/>
          <p:cNvSpPr/>
          <p:nvPr/>
        </p:nvSpPr>
        <p:spPr>
          <a:xfrm>
            <a:off x="822960" y="5029200"/>
            <a:ext cx="3200400" cy="1005840"/>
          </a:xfrm>
          <a:prstGeom prst="rect">
            <a:avLst/>
          </a:prstGeom>
          <a:noFill/>
          <a:ln/>
        </p:spPr>
        <p:txBody>
          <a:bodyPr wrap="square" lIns="0" tIns="0" rIns="0" bIns="0" rtlCol="0" anchor="t"/>
          <a:lstStyle/>
          <a:p>
            <a:pPr indent="0" marL="0">
              <a:buNone/>
            </a:pPr>
            <a:r>
              <a:rPr lang="en-US" sz="1200" dirty="0">
                <a:solidFill>
                  <a:srgbClr val="DCE2F2"/>
                </a:solidFill>
                <a:latin typeface="Calibri" pitchFamily="34" charset="0"/>
                <a:ea typeface="Calibri" pitchFamily="34" charset="-122"/>
                <a:cs typeface="Calibri" pitchFamily="34" charset="-120"/>
              </a:rPr>
              <a:t>CDBG entitlement communities plus 50 states receive funds on ACS poverty, overcrowding, and housing-age inputs (GAO-10-1011).</a:t>
            </a:r>
            <a:endParaRPr lang="en-US" sz="1200" dirty="0"/>
          </a:p>
        </p:txBody>
      </p:sp>
      <p:sp>
        <p:nvSpPr>
          <p:cNvPr id="13" name="Shape 10"/>
          <p:cNvSpPr/>
          <p:nvPr/>
        </p:nvSpPr>
        <p:spPr>
          <a:xfrm>
            <a:off x="4663440" y="1691640"/>
            <a:ext cx="6976872" cy="2148840"/>
          </a:xfrm>
          <a:prstGeom prst="rect">
            <a:avLst/>
          </a:prstGeom>
          <a:solidFill>
            <a:srgbClr val="EEF1F8"/>
          </a:solidFill>
          <a:ln w="12700">
            <a:solidFill>
              <a:srgbClr val="EEF1F8"/>
            </a:solidFill>
            <a:prstDash val="solid"/>
          </a:ln>
        </p:spPr>
      </p:sp>
      <p:sp>
        <p:nvSpPr>
          <p:cNvPr id="14" name="Text 11"/>
          <p:cNvSpPr/>
          <p:nvPr/>
        </p:nvSpPr>
        <p:spPr>
          <a:xfrm>
            <a:off x="4937760" y="1856232"/>
            <a:ext cx="6428232" cy="347472"/>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What they need</a:t>
            </a:r>
            <a:endParaRPr lang="en-US" sz="1600" dirty="0"/>
          </a:p>
        </p:txBody>
      </p:sp>
      <p:sp>
        <p:nvSpPr>
          <p:cNvPr id="15" name="Text 12"/>
          <p:cNvSpPr/>
          <p:nvPr/>
        </p:nvSpPr>
        <p:spPr>
          <a:xfrm>
            <a:off x="4937760" y="2240280"/>
            <a:ext cx="6428232" cy="150876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The estimate, MOE, and interval as retrievable numbers</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Whether the interval crosses an eligibility cutoff</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A significance check before ranking places</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The overlapping-vintage rule stated up front</a:t>
            </a:r>
            <a:endParaRPr lang="en-US" sz="1350" dirty="0"/>
          </a:p>
        </p:txBody>
      </p:sp>
      <p:sp>
        <p:nvSpPr>
          <p:cNvPr id="16" name="Shape 13"/>
          <p:cNvSpPr/>
          <p:nvPr/>
        </p:nvSpPr>
        <p:spPr>
          <a:xfrm>
            <a:off x="4663440" y="4069080"/>
            <a:ext cx="6976872" cy="2148840"/>
          </a:xfrm>
          <a:prstGeom prst="rect">
            <a:avLst/>
          </a:prstGeom>
          <a:solidFill>
            <a:srgbClr val="F3F5FA"/>
          </a:solidFill>
          <a:ln w="12700">
            <a:solidFill>
              <a:srgbClr val="F3F5FA"/>
            </a:solidFill>
            <a:prstDash val="solid"/>
          </a:ln>
        </p:spPr>
      </p:sp>
      <p:sp>
        <p:nvSpPr>
          <p:cNvPr id="17" name="Text 14"/>
          <p:cNvSpPr/>
          <p:nvPr/>
        </p:nvSpPr>
        <p:spPr>
          <a:xfrm>
            <a:off x="4937760" y="4233672"/>
            <a:ext cx="6428232" cy="347472"/>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Why they need it</a:t>
            </a:r>
            <a:endParaRPr lang="en-US" sz="1600" dirty="0"/>
          </a:p>
        </p:txBody>
      </p:sp>
      <p:sp>
        <p:nvSpPr>
          <p:cNvPr id="18" name="Text 15"/>
          <p:cNvSpPr/>
          <p:nvPr/>
        </p:nvSpPr>
        <p:spPr>
          <a:xfrm>
            <a:off x="4937760" y="4617720"/>
            <a:ext cx="6428232" cy="150876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Nesse and Rahe 2015: agencies find MOE "adds complexity that does not necessarily result in better implementation" (documented)</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HUD already applies a written rule: an ACS median is usable only if its MOE is under half the estimate (documented)</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ARC distressed-area rule uses latest 5-year ACS with no mention of MOE (documented)</a:t>
            </a:r>
            <a:endParaRPr lang="en-US" sz="1350" dirty="0"/>
          </a:p>
        </p:txBody>
      </p:sp>
      <p:sp>
        <p:nvSpPr>
          <p:cNvPr id="19" name="Text 16"/>
          <p:cNvSpPr/>
          <p:nvPr/>
        </p:nvSpPr>
        <p:spPr>
          <a:xfrm>
            <a:off x="548640" y="6355080"/>
            <a:ext cx="11091672" cy="27432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Sources: Nesse and Rahe, Population Research and Policy Review 34(4) 2015; HUD income limits methodology FY2018 to FY2026; ARC Distressed Areas Classification System; GAO-10-1011.</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Small and rural county officials</a:t>
            </a:r>
            <a:endParaRPr lang="en-US" sz="3000" dirty="0"/>
          </a:p>
        </p:txBody>
      </p:sp>
      <p:sp>
        <p:nvSpPr>
          <p:cNvPr id="3" name="Text 1"/>
          <p:cNvSpPr/>
          <p:nvPr/>
        </p:nvSpPr>
        <p:spPr>
          <a:xfrm>
            <a:off x="548640" y="1078992"/>
            <a:ext cx="11091672" cy="457200"/>
          </a:xfrm>
          <a:prstGeom prst="rect">
            <a:avLst/>
          </a:prstGeom>
          <a:noFill/>
          <a:ln/>
        </p:spPr>
        <p:txBody>
          <a:bodyPr wrap="square" lIns="0" tIns="0" rIns="0" bIns="0" rtlCol="0" anchor="ctr"/>
          <a:lstStyle/>
          <a:p>
            <a:pPr indent="0" marL="0">
              <a:buNone/>
            </a:pPr>
            <a:r>
              <a:rPr lang="en-US" sz="1500" i="1" dirty="0">
                <a:solidFill>
                  <a:srgbClr val="5A6478"/>
                </a:solidFill>
                <a:latin typeface="Calibri" pitchFamily="34" charset="0"/>
                <a:ea typeface="Calibri" pitchFamily="34" charset="-122"/>
                <a:cs typeface="Calibri" pitchFamily="34" charset="-120"/>
              </a:rPr>
              <a:t>Their geography is the county. Their numbers behave like tract numbers.</a:t>
            </a:r>
            <a:endParaRPr lang="en-US" sz="1500" dirty="0"/>
          </a:p>
        </p:txBody>
      </p:sp>
      <p:sp>
        <p:nvSpPr>
          <p:cNvPr id="4" name="Shape 2"/>
          <p:cNvSpPr/>
          <p:nvPr/>
        </p:nvSpPr>
        <p:spPr>
          <a:xfrm>
            <a:off x="10177272" y="502920"/>
            <a:ext cx="1463040" cy="274320"/>
          </a:xfrm>
          <a:prstGeom prst="roundRect">
            <a:avLst>
              <a:gd name="adj" fmla="val 50000"/>
            </a:avLst>
          </a:prstGeom>
          <a:solidFill>
            <a:srgbClr val="C8A951"/>
          </a:solidFill>
          <a:ln w="12700">
            <a:solidFill>
              <a:srgbClr val="C8A951"/>
            </a:solidFill>
            <a:prstDash val="solid"/>
          </a:ln>
        </p:spPr>
      </p:sp>
      <p:sp>
        <p:nvSpPr>
          <p:cNvPr id="5" name="Text 3"/>
          <p:cNvSpPr/>
          <p:nvPr/>
        </p:nvSpPr>
        <p:spPr>
          <a:xfrm>
            <a:off x="10177272" y="502920"/>
            <a:ext cx="1463040" cy="274320"/>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Tier 1</a:t>
            </a:r>
            <a:endParaRPr lang="en-US" sz="1000" dirty="0"/>
          </a:p>
        </p:txBody>
      </p:sp>
      <p:sp>
        <p:nvSpPr>
          <p:cNvPr id="6" name="Shape 4"/>
          <p:cNvSpPr/>
          <p:nvPr/>
        </p:nvSpPr>
        <p:spPr>
          <a:xfrm>
            <a:off x="548640" y="1691640"/>
            <a:ext cx="3749040" cy="4526280"/>
          </a:xfrm>
          <a:prstGeom prst="rect">
            <a:avLst/>
          </a:prstGeom>
          <a:solidFill>
            <a:srgbClr val="1E2761"/>
          </a:solidFill>
          <a:ln w="12700">
            <a:solidFill>
              <a:srgbClr val="1E2761"/>
            </a:solidFill>
            <a:prstDash val="solid"/>
          </a:ln>
        </p:spPr>
      </p:sp>
      <p:sp>
        <p:nvSpPr>
          <p:cNvPr id="7" name="Shape 5"/>
          <p:cNvSpPr/>
          <p:nvPr/>
        </p:nvSpPr>
        <p:spPr>
          <a:xfrm>
            <a:off x="822960" y="1965960"/>
            <a:ext cx="640080" cy="640080"/>
          </a:xfrm>
          <a:prstGeom prst="ellipse">
            <a:avLst/>
          </a:prstGeom>
          <a:solidFill>
            <a:srgbClr val="141B3D"/>
          </a:solidFill>
          <a:ln w="12700">
            <a:solidFill>
              <a:srgbClr val="141B3D"/>
            </a:solidFill>
            <a:prstDash val="solid"/>
          </a:ln>
        </p:spPr>
      </p:sp>
      <p:pic>
        <p:nvPicPr>
          <p:cNvPr id="8" name="Image 0" descr="preencoded.png">    </p:cNvPr>
          <p:cNvPicPr>
            <a:picLocks noChangeAspect="1"/>
          </p:cNvPicPr>
          <p:nvPr/>
        </p:nvPicPr>
        <p:blipFill>
          <a:blip r:embed="rId1"/>
          <a:stretch>
            <a:fillRect/>
          </a:stretch>
        </p:blipFill>
        <p:spPr>
          <a:xfrm>
            <a:off x="976579" y="2119579"/>
            <a:ext cx="332842" cy="332842"/>
          </a:xfrm>
          <a:prstGeom prst="rect">
            <a:avLst/>
          </a:prstGeom>
        </p:spPr>
      </p:pic>
      <p:sp>
        <p:nvSpPr>
          <p:cNvPr id="9" name="Text 6"/>
          <p:cNvSpPr/>
          <p:nvPr/>
        </p:nvSpPr>
        <p:spPr>
          <a:xfrm>
            <a:off x="1600200" y="1965960"/>
            <a:ext cx="2286000" cy="6400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Who</a:t>
            </a:r>
            <a:endParaRPr lang="en-US" sz="1800" dirty="0"/>
          </a:p>
        </p:txBody>
      </p:sp>
      <p:sp>
        <p:nvSpPr>
          <p:cNvPr id="10" name="Text 7"/>
          <p:cNvSpPr/>
          <p:nvPr/>
        </p:nvSpPr>
        <p:spPr>
          <a:xfrm>
            <a:off x="822960" y="2743200"/>
            <a:ext cx="3200400" cy="1417320"/>
          </a:xfrm>
          <a:prstGeom prst="rect">
            <a:avLst/>
          </a:prstGeom>
          <a:noFill/>
          <a:ln/>
        </p:spPr>
        <p:txBody>
          <a:bodyPr wrap="square" lIns="0" tIns="0" rIns="0" bIns="0" rtlCol="0" anchor="t"/>
          <a:lstStyle/>
          <a:p>
            <a:pPr indent="0" marL="0">
              <a:buNone/>
            </a:pPr>
            <a:r>
              <a:rPr lang="en-US" sz="1300" dirty="0">
                <a:solidFill>
                  <a:srgbClr val="DCE2F2"/>
                </a:solidFill>
                <a:latin typeface="Calibri" pitchFamily="34" charset="0"/>
                <a:ea typeface="Calibri" pitchFamily="34" charset="-122"/>
                <a:cs typeface="Calibri" pitchFamily="34" charset="-120"/>
              </a:rPr>
              <a:t>County administrators, planners, and grant writers in counties under 65,000 population, which receive only ACS 5-year estimates.</a:t>
            </a:r>
            <a:endParaRPr lang="en-US" sz="1300" dirty="0"/>
          </a:p>
        </p:txBody>
      </p:sp>
      <p:sp>
        <p:nvSpPr>
          <p:cNvPr id="11" name="Text 8"/>
          <p:cNvSpPr/>
          <p:nvPr/>
        </p:nvSpPr>
        <p:spPr>
          <a:xfrm>
            <a:off x="822960" y="4206240"/>
            <a:ext cx="3200400" cy="822960"/>
          </a:xfrm>
          <a:prstGeom prst="rect">
            <a:avLst/>
          </a:prstGeom>
          <a:noFill/>
          <a:ln/>
        </p:spPr>
        <p:txBody>
          <a:bodyPr wrap="square" lIns="0" tIns="0" rIns="0" bIns="0" rtlCol="0" anchor="ctr"/>
          <a:lstStyle/>
          <a:p>
            <a:pPr indent="0" marL="0">
              <a:buNone/>
            </a:pPr>
            <a:r>
              <a:rPr lang="en-US" sz="4000" b="1" dirty="0">
                <a:solidFill>
                  <a:srgbClr val="C8A951"/>
                </a:solidFill>
                <a:latin typeface="Cambria" pitchFamily="34" charset="0"/>
                <a:ea typeface="Cambria" pitchFamily="34" charset="-122"/>
                <a:cs typeface="Cambria" pitchFamily="34" charset="-120"/>
              </a:rPr>
              <a:t>~74%</a:t>
            </a:r>
            <a:endParaRPr lang="en-US" sz="4000" dirty="0"/>
          </a:p>
        </p:txBody>
      </p:sp>
      <p:sp>
        <p:nvSpPr>
          <p:cNvPr id="12" name="Text 9"/>
          <p:cNvSpPr/>
          <p:nvPr/>
        </p:nvSpPr>
        <p:spPr>
          <a:xfrm>
            <a:off x="822960" y="5029200"/>
            <a:ext cx="3200400" cy="1005840"/>
          </a:xfrm>
          <a:prstGeom prst="rect">
            <a:avLst/>
          </a:prstGeom>
          <a:noFill/>
          <a:ln/>
        </p:spPr>
        <p:txBody>
          <a:bodyPr wrap="square" lIns="0" tIns="0" rIns="0" bIns="0" rtlCol="0" anchor="t"/>
          <a:lstStyle/>
          <a:p>
            <a:pPr indent="0" marL="0">
              <a:buNone/>
            </a:pPr>
            <a:r>
              <a:rPr lang="en-US" sz="1200" dirty="0">
                <a:solidFill>
                  <a:srgbClr val="DCE2F2"/>
                </a:solidFill>
                <a:latin typeface="Calibri" pitchFamily="34" charset="0"/>
                <a:ea typeface="Calibri" pitchFamily="34" charset="-122"/>
                <a:cs typeface="Calibri" pitchFamily="34" charset="-120"/>
              </a:rPr>
              <a:t>of U.S. counties fall below the 65,000 threshold for 1-year ACS. The 2015 1-year release covered all states but only 26% of counties (Census Bureau).</a:t>
            </a:r>
            <a:endParaRPr lang="en-US" sz="1200" dirty="0"/>
          </a:p>
        </p:txBody>
      </p:sp>
      <p:sp>
        <p:nvSpPr>
          <p:cNvPr id="13" name="Shape 10"/>
          <p:cNvSpPr/>
          <p:nvPr/>
        </p:nvSpPr>
        <p:spPr>
          <a:xfrm>
            <a:off x="4663440" y="1691640"/>
            <a:ext cx="6976872" cy="2148840"/>
          </a:xfrm>
          <a:prstGeom prst="rect">
            <a:avLst/>
          </a:prstGeom>
          <a:solidFill>
            <a:srgbClr val="EEF1F8"/>
          </a:solidFill>
          <a:ln w="12700">
            <a:solidFill>
              <a:srgbClr val="EEF1F8"/>
            </a:solidFill>
            <a:prstDash val="solid"/>
          </a:ln>
        </p:spPr>
      </p:sp>
      <p:sp>
        <p:nvSpPr>
          <p:cNvPr id="14" name="Text 11"/>
          <p:cNvSpPr/>
          <p:nvPr/>
        </p:nvSpPr>
        <p:spPr>
          <a:xfrm>
            <a:off x="4937760" y="1856232"/>
            <a:ext cx="6428232" cy="347472"/>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What they need</a:t>
            </a:r>
            <a:endParaRPr lang="en-US" sz="1600" dirty="0"/>
          </a:p>
        </p:txBody>
      </p:sp>
      <p:sp>
        <p:nvSpPr>
          <p:cNvPr id="15" name="Text 12"/>
          <p:cNvSpPr/>
          <p:nvPr/>
        </p:nvSpPr>
        <p:spPr>
          <a:xfrm>
            <a:off x="4937760" y="2240280"/>
            <a:ext cx="6428232" cy="150876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A plain reliability label with the CV one tap below it</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Whether the interval crosses a grant threshold</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A plain statement of how reliability falls as population shrinks</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The overlapping-vintage rule, since year-over-year is how they track change</a:t>
            </a:r>
            <a:endParaRPr lang="en-US" sz="1350" dirty="0"/>
          </a:p>
        </p:txBody>
      </p:sp>
      <p:sp>
        <p:nvSpPr>
          <p:cNvPr id="16" name="Shape 13"/>
          <p:cNvSpPr/>
          <p:nvPr/>
        </p:nvSpPr>
        <p:spPr>
          <a:xfrm>
            <a:off x="4663440" y="4069080"/>
            <a:ext cx="6976872" cy="2148840"/>
          </a:xfrm>
          <a:prstGeom prst="rect">
            <a:avLst/>
          </a:prstGeom>
          <a:solidFill>
            <a:srgbClr val="F3F5FA"/>
          </a:solidFill>
          <a:ln w="12700">
            <a:solidFill>
              <a:srgbClr val="F3F5FA"/>
            </a:solidFill>
            <a:prstDash val="solid"/>
          </a:ln>
        </p:spPr>
      </p:sp>
      <p:sp>
        <p:nvSpPr>
          <p:cNvPr id="17" name="Text 14"/>
          <p:cNvSpPr/>
          <p:nvPr/>
        </p:nvSpPr>
        <p:spPr>
          <a:xfrm>
            <a:off x="4937760" y="4233672"/>
            <a:ext cx="6428232" cy="347472"/>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Why they need it</a:t>
            </a:r>
            <a:endParaRPr lang="en-US" sz="1600" dirty="0"/>
          </a:p>
        </p:txBody>
      </p:sp>
      <p:sp>
        <p:nvSpPr>
          <p:cNvPr id="18" name="Text 15"/>
          <p:cNvSpPr/>
          <p:nvPr/>
        </p:nvSpPr>
        <p:spPr>
          <a:xfrm>
            <a:off x="4937760" y="4617720"/>
            <a:ext cx="6428232" cy="150876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Jurjevich 2019: rural eligibility decisions are often made with the margin disregarded; the work-around is a consultant-run income survey (documented)</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Team EDA 07: CV tracks estimate size, not place size, so small-county estimates for income and poverty carry tract-scale margins (team finding)</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Extension services write their own MOE explainers, a demand signal (Kentucky "Grain of Salt" guide)</a:t>
            </a:r>
            <a:endParaRPr lang="en-US" sz="1350" dirty="0"/>
          </a:p>
        </p:txBody>
      </p:sp>
      <p:sp>
        <p:nvSpPr>
          <p:cNvPr id="19" name="Text 16"/>
          <p:cNvSpPr/>
          <p:nvPr/>
        </p:nvSpPr>
        <p:spPr>
          <a:xfrm>
            <a:off x="548640" y="6355080"/>
            <a:ext cx="11091672" cy="27432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Sources: Jurjevich, Confronting Statistical Uncertainty in Rural America, Springer 2019; Census Bureau ACS 1-year coverage note; Zimmerman and McAlister, University of Kentucky.</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State demographers and data centers</a:t>
            </a:r>
            <a:endParaRPr lang="en-US" sz="3000" dirty="0"/>
          </a:p>
        </p:txBody>
      </p:sp>
      <p:sp>
        <p:nvSpPr>
          <p:cNvPr id="3" name="Text 1"/>
          <p:cNvSpPr/>
          <p:nvPr/>
        </p:nvSpPr>
        <p:spPr>
          <a:xfrm>
            <a:off x="548640" y="1078992"/>
            <a:ext cx="11091672" cy="457200"/>
          </a:xfrm>
          <a:prstGeom prst="rect">
            <a:avLst/>
          </a:prstGeom>
          <a:noFill/>
          <a:ln/>
        </p:spPr>
        <p:txBody>
          <a:bodyPr wrap="square" lIns="0" tIns="0" rIns="0" bIns="0" rtlCol="0" anchor="ctr"/>
          <a:lstStyle/>
          <a:p>
            <a:pPr indent="0" marL="0">
              <a:buNone/>
            </a:pPr>
            <a:r>
              <a:rPr lang="en-US" sz="1500" i="1" dirty="0">
                <a:solidFill>
                  <a:srgbClr val="5A6478"/>
                </a:solidFill>
                <a:latin typeface="Calibri" pitchFamily="34" charset="0"/>
                <a:ea typeface="Calibri" pitchFamily="34" charset="-122"/>
                <a:cs typeface="Calibri" pitchFamily="34" charset="-120"/>
              </a:rPr>
              <a:t>The intermediaries who already answer these questions by hand.</a:t>
            </a:r>
            <a:endParaRPr lang="en-US" sz="1500" dirty="0"/>
          </a:p>
        </p:txBody>
      </p:sp>
      <p:sp>
        <p:nvSpPr>
          <p:cNvPr id="4" name="Shape 2"/>
          <p:cNvSpPr/>
          <p:nvPr/>
        </p:nvSpPr>
        <p:spPr>
          <a:xfrm>
            <a:off x="10177272" y="502920"/>
            <a:ext cx="1463040" cy="274320"/>
          </a:xfrm>
          <a:prstGeom prst="roundRect">
            <a:avLst>
              <a:gd name="adj" fmla="val 50000"/>
            </a:avLst>
          </a:prstGeom>
          <a:solidFill>
            <a:srgbClr val="C8A951"/>
          </a:solidFill>
          <a:ln w="12700">
            <a:solidFill>
              <a:srgbClr val="C8A951"/>
            </a:solidFill>
            <a:prstDash val="solid"/>
          </a:ln>
        </p:spPr>
      </p:sp>
      <p:sp>
        <p:nvSpPr>
          <p:cNvPr id="5" name="Text 3"/>
          <p:cNvSpPr/>
          <p:nvPr/>
        </p:nvSpPr>
        <p:spPr>
          <a:xfrm>
            <a:off x="10177272" y="502920"/>
            <a:ext cx="1463040" cy="274320"/>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Tier 1</a:t>
            </a:r>
            <a:endParaRPr lang="en-US" sz="1000" dirty="0"/>
          </a:p>
        </p:txBody>
      </p:sp>
      <p:sp>
        <p:nvSpPr>
          <p:cNvPr id="6" name="Shape 4"/>
          <p:cNvSpPr/>
          <p:nvPr/>
        </p:nvSpPr>
        <p:spPr>
          <a:xfrm>
            <a:off x="548640" y="1691640"/>
            <a:ext cx="3749040" cy="4526280"/>
          </a:xfrm>
          <a:prstGeom prst="rect">
            <a:avLst/>
          </a:prstGeom>
          <a:solidFill>
            <a:srgbClr val="1E2761"/>
          </a:solidFill>
          <a:ln w="12700">
            <a:solidFill>
              <a:srgbClr val="1E2761"/>
            </a:solidFill>
            <a:prstDash val="solid"/>
          </a:ln>
        </p:spPr>
      </p:sp>
      <p:sp>
        <p:nvSpPr>
          <p:cNvPr id="7" name="Shape 5"/>
          <p:cNvSpPr/>
          <p:nvPr/>
        </p:nvSpPr>
        <p:spPr>
          <a:xfrm>
            <a:off x="822960" y="1965960"/>
            <a:ext cx="640080" cy="640080"/>
          </a:xfrm>
          <a:prstGeom prst="ellipse">
            <a:avLst/>
          </a:prstGeom>
          <a:solidFill>
            <a:srgbClr val="141B3D"/>
          </a:solidFill>
          <a:ln w="12700">
            <a:solidFill>
              <a:srgbClr val="141B3D"/>
            </a:solidFill>
            <a:prstDash val="solid"/>
          </a:ln>
        </p:spPr>
      </p:sp>
      <p:pic>
        <p:nvPicPr>
          <p:cNvPr id="8" name="Image 0" descr="preencoded.png">    </p:cNvPr>
          <p:cNvPicPr>
            <a:picLocks noChangeAspect="1"/>
          </p:cNvPicPr>
          <p:nvPr/>
        </p:nvPicPr>
        <p:blipFill>
          <a:blip r:embed="rId1"/>
          <a:stretch>
            <a:fillRect/>
          </a:stretch>
        </p:blipFill>
        <p:spPr>
          <a:xfrm>
            <a:off x="976579" y="2119579"/>
            <a:ext cx="332842" cy="332842"/>
          </a:xfrm>
          <a:prstGeom prst="rect">
            <a:avLst/>
          </a:prstGeom>
        </p:spPr>
      </p:pic>
      <p:sp>
        <p:nvSpPr>
          <p:cNvPr id="9" name="Text 6"/>
          <p:cNvSpPr/>
          <p:nvPr/>
        </p:nvSpPr>
        <p:spPr>
          <a:xfrm>
            <a:off x="1600200" y="1965960"/>
            <a:ext cx="2286000" cy="6400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Who</a:t>
            </a:r>
            <a:endParaRPr lang="en-US" sz="1800" dirty="0"/>
          </a:p>
        </p:txBody>
      </p:sp>
      <p:sp>
        <p:nvSpPr>
          <p:cNvPr id="10" name="Text 7"/>
          <p:cNvSpPr/>
          <p:nvPr/>
        </p:nvSpPr>
        <p:spPr>
          <a:xfrm>
            <a:off x="822960" y="2743200"/>
            <a:ext cx="3200400" cy="1417320"/>
          </a:xfrm>
          <a:prstGeom prst="rect">
            <a:avLst/>
          </a:prstGeom>
          <a:noFill/>
          <a:ln/>
        </p:spPr>
        <p:txBody>
          <a:bodyPr wrap="square" lIns="0" tIns="0" rIns="0" bIns="0" rtlCol="0" anchor="t"/>
          <a:lstStyle/>
          <a:p>
            <a:pPr indent="0" marL="0">
              <a:buNone/>
            </a:pPr>
            <a:r>
              <a:rPr lang="en-US" sz="1300" dirty="0">
                <a:solidFill>
                  <a:srgbClr val="DCE2F2"/>
                </a:solidFill>
                <a:latin typeface="Calibri" pitchFamily="34" charset="0"/>
                <a:ea typeface="Calibri" pitchFamily="34" charset="-122"/>
                <a:cs typeface="Calibri" pitchFamily="34" charset="-120"/>
              </a:rPr>
              <a:t>State Data Center lead agencies and state demographic offices that publish ACS profiles, write reliability guidance, and field questions from local governments.</a:t>
            </a:r>
            <a:endParaRPr lang="en-US" sz="1300" dirty="0"/>
          </a:p>
        </p:txBody>
      </p:sp>
      <p:sp>
        <p:nvSpPr>
          <p:cNvPr id="11" name="Text 8"/>
          <p:cNvSpPr/>
          <p:nvPr/>
        </p:nvSpPr>
        <p:spPr>
          <a:xfrm>
            <a:off x="822960" y="4206240"/>
            <a:ext cx="3200400" cy="822960"/>
          </a:xfrm>
          <a:prstGeom prst="rect">
            <a:avLst/>
          </a:prstGeom>
          <a:noFill/>
          <a:ln/>
        </p:spPr>
        <p:txBody>
          <a:bodyPr wrap="square" lIns="0" tIns="0" rIns="0" bIns="0" rtlCol="0" anchor="ctr"/>
          <a:lstStyle/>
          <a:p>
            <a:pPr indent="0" marL="0">
              <a:buNone/>
            </a:pPr>
            <a:r>
              <a:rPr lang="en-US" sz="4000" b="1" dirty="0">
                <a:solidFill>
                  <a:srgbClr val="C8A951"/>
                </a:solidFill>
                <a:latin typeface="Cambria" pitchFamily="34" charset="0"/>
                <a:ea typeface="Cambria" pitchFamily="34" charset="-122"/>
                <a:cs typeface="Cambria" pitchFamily="34" charset="-120"/>
              </a:rPr>
              <a:t>15%</a:t>
            </a:r>
            <a:endParaRPr lang="en-US" sz="4000" dirty="0"/>
          </a:p>
        </p:txBody>
      </p:sp>
      <p:sp>
        <p:nvSpPr>
          <p:cNvPr id="12" name="Text 9"/>
          <p:cNvSpPr/>
          <p:nvPr/>
        </p:nvSpPr>
        <p:spPr>
          <a:xfrm>
            <a:off x="822960" y="5029200"/>
            <a:ext cx="3200400" cy="1005840"/>
          </a:xfrm>
          <a:prstGeom prst="rect">
            <a:avLst/>
          </a:prstGeom>
          <a:noFill/>
          <a:ln/>
        </p:spPr>
        <p:txBody>
          <a:bodyPr wrap="square" lIns="0" tIns="0" rIns="0" bIns="0" rtlCol="0" anchor="t"/>
          <a:lstStyle/>
          <a:p>
            <a:pPr indent="0" marL="0">
              <a:buNone/>
            </a:pPr>
            <a:r>
              <a:rPr lang="en-US" sz="1200" dirty="0">
                <a:solidFill>
                  <a:srgbClr val="DCE2F2"/>
                </a:solidFill>
                <a:latin typeface="Calibri" pitchFamily="34" charset="0"/>
                <a:ea typeface="Calibri" pitchFamily="34" charset="-122"/>
                <a:cs typeface="Calibri" pitchFamily="34" charset="-120"/>
              </a:rPr>
              <a:t>The CV caution threshold most state guides adopt, tracing to Census ACS Compass products. Washington OFM, Minnesota, and Missouri all publish versions of it.</a:t>
            </a:r>
            <a:endParaRPr lang="en-US" sz="1200" dirty="0"/>
          </a:p>
        </p:txBody>
      </p:sp>
      <p:sp>
        <p:nvSpPr>
          <p:cNvPr id="13" name="Shape 10"/>
          <p:cNvSpPr/>
          <p:nvPr/>
        </p:nvSpPr>
        <p:spPr>
          <a:xfrm>
            <a:off x="4663440" y="1691640"/>
            <a:ext cx="6976872" cy="2148840"/>
          </a:xfrm>
          <a:prstGeom prst="rect">
            <a:avLst/>
          </a:prstGeom>
          <a:solidFill>
            <a:srgbClr val="EEF1F8"/>
          </a:solidFill>
          <a:ln w="12700">
            <a:solidFill>
              <a:srgbClr val="EEF1F8"/>
            </a:solidFill>
            <a:prstDash val="solid"/>
          </a:ln>
        </p:spPr>
      </p:sp>
      <p:sp>
        <p:nvSpPr>
          <p:cNvPr id="14" name="Text 11"/>
          <p:cNvSpPr/>
          <p:nvPr/>
        </p:nvSpPr>
        <p:spPr>
          <a:xfrm>
            <a:off x="4937760" y="1856232"/>
            <a:ext cx="6428232" cy="347472"/>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What they need</a:t>
            </a:r>
            <a:endParaRPr lang="en-US" sz="1600" dirty="0"/>
          </a:p>
        </p:txBody>
      </p:sp>
      <p:sp>
        <p:nvSpPr>
          <p:cNvPr id="15" name="Text 12"/>
          <p:cNvSpPr/>
          <p:nvPr/>
        </p:nvSpPr>
        <p:spPr>
          <a:xfrm>
            <a:off x="4937760" y="2240280"/>
            <a:ext cx="6428232" cy="150876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A reference implementation of the significance test and derived-MOE arithmetic they currently explain in PDFs</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A neutral, sourced reliability convention to point users at</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Something to link local users to instead of re-teaching the CV rule</a:t>
            </a:r>
            <a:endParaRPr lang="en-US" sz="1350" dirty="0"/>
          </a:p>
        </p:txBody>
      </p:sp>
      <p:sp>
        <p:nvSpPr>
          <p:cNvPr id="16" name="Shape 13"/>
          <p:cNvSpPr/>
          <p:nvPr/>
        </p:nvSpPr>
        <p:spPr>
          <a:xfrm>
            <a:off x="4663440" y="4069080"/>
            <a:ext cx="6976872" cy="2148840"/>
          </a:xfrm>
          <a:prstGeom prst="rect">
            <a:avLst/>
          </a:prstGeom>
          <a:solidFill>
            <a:srgbClr val="F3F5FA"/>
          </a:solidFill>
          <a:ln w="12700">
            <a:solidFill>
              <a:srgbClr val="F3F5FA"/>
            </a:solidFill>
            <a:prstDash val="solid"/>
          </a:ln>
        </p:spPr>
      </p:sp>
      <p:sp>
        <p:nvSpPr>
          <p:cNvPr id="17" name="Text 14"/>
          <p:cNvSpPr/>
          <p:nvPr/>
        </p:nvSpPr>
        <p:spPr>
          <a:xfrm>
            <a:off x="4937760" y="4233672"/>
            <a:ext cx="6428232" cy="347472"/>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Why they need it</a:t>
            </a:r>
            <a:endParaRPr lang="en-US" sz="1600" dirty="0"/>
          </a:p>
        </p:txBody>
      </p:sp>
      <p:sp>
        <p:nvSpPr>
          <p:cNvPr id="18" name="Text 15"/>
          <p:cNvSpPr/>
          <p:nvPr/>
        </p:nvSpPr>
        <p:spPr>
          <a:xfrm>
            <a:off x="4937760" y="4617720"/>
            <a:ext cx="6428232" cy="150876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Washington OFM user guide, Chittenden County RPC, and the Missouri Census Data Center each maintain their own MOE guidance (documented)</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The guides differ on thresholds (12/40, 15, 15/30), which is itself evidence that no shared tool exists (documented)</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They serve county and state constituents, so the county data fits natively (documented)</a:t>
            </a:r>
            <a:endParaRPr lang="en-US" sz="1350" dirty="0"/>
          </a:p>
        </p:txBody>
      </p:sp>
      <p:sp>
        <p:nvSpPr>
          <p:cNvPr id="19" name="Text 16"/>
          <p:cNvSpPr/>
          <p:nvPr/>
        </p:nvSpPr>
        <p:spPr>
          <a:xfrm>
            <a:off x="548640" y="6355080"/>
            <a:ext cx="11091672" cy="27432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Sources: Washington OFM ACS User Guide; Chittenden County RPC 2018; Missouri Census Data Center documentation; Census ACS Compass guidance.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Urban and regional planners</a:t>
            </a:r>
            <a:endParaRPr lang="en-US" sz="3000" dirty="0"/>
          </a:p>
        </p:txBody>
      </p:sp>
      <p:sp>
        <p:nvSpPr>
          <p:cNvPr id="3" name="Text 1"/>
          <p:cNvSpPr/>
          <p:nvPr/>
        </p:nvSpPr>
        <p:spPr>
          <a:xfrm>
            <a:off x="548640" y="1078992"/>
            <a:ext cx="11091672" cy="457200"/>
          </a:xfrm>
          <a:prstGeom prst="rect">
            <a:avLst/>
          </a:prstGeom>
          <a:noFill/>
          <a:ln/>
        </p:spPr>
        <p:txBody>
          <a:bodyPr wrap="square" lIns="0" tIns="0" rIns="0" bIns="0" rtlCol="0" anchor="ctr"/>
          <a:lstStyle/>
          <a:p>
            <a:pPr indent="0" marL="0">
              <a:buNone/>
            </a:pPr>
            <a:r>
              <a:rPr lang="en-US" sz="1500" i="1" dirty="0">
                <a:solidFill>
                  <a:srgbClr val="5A6478"/>
                </a:solidFill>
                <a:latin typeface="Calibri" pitchFamily="34" charset="0"/>
                <a:ea typeface="Calibri" pitchFamily="34" charset="-122"/>
                <a:cs typeface="Calibri" pitchFamily="34" charset="-120"/>
              </a:rPr>
              <a:t>The best-documented uncertainty pain in the ACS literature. Almost all of it below county.</a:t>
            </a:r>
            <a:endParaRPr lang="en-US" sz="1500" dirty="0"/>
          </a:p>
        </p:txBody>
      </p:sp>
      <p:sp>
        <p:nvSpPr>
          <p:cNvPr id="4" name="Shape 2"/>
          <p:cNvSpPr/>
          <p:nvPr/>
        </p:nvSpPr>
        <p:spPr>
          <a:xfrm>
            <a:off x="10177272" y="502920"/>
            <a:ext cx="1463040" cy="274320"/>
          </a:xfrm>
          <a:prstGeom prst="roundRect">
            <a:avLst>
              <a:gd name="adj" fmla="val 50000"/>
            </a:avLst>
          </a:prstGeom>
          <a:solidFill>
            <a:srgbClr val="1E2761"/>
          </a:solidFill>
          <a:ln w="12700">
            <a:solidFill>
              <a:srgbClr val="1E2761"/>
            </a:solidFill>
            <a:prstDash val="solid"/>
          </a:ln>
        </p:spPr>
      </p:sp>
      <p:sp>
        <p:nvSpPr>
          <p:cNvPr id="5" name="Text 3"/>
          <p:cNvSpPr/>
          <p:nvPr/>
        </p:nvSpPr>
        <p:spPr>
          <a:xfrm>
            <a:off x="10177272" y="502920"/>
            <a:ext cx="14630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Tier 2</a:t>
            </a:r>
            <a:endParaRPr lang="en-US" sz="1000" dirty="0"/>
          </a:p>
        </p:txBody>
      </p:sp>
      <p:sp>
        <p:nvSpPr>
          <p:cNvPr id="6" name="Shape 4"/>
          <p:cNvSpPr/>
          <p:nvPr/>
        </p:nvSpPr>
        <p:spPr>
          <a:xfrm>
            <a:off x="548640" y="1691640"/>
            <a:ext cx="3749040" cy="4526280"/>
          </a:xfrm>
          <a:prstGeom prst="rect">
            <a:avLst/>
          </a:prstGeom>
          <a:solidFill>
            <a:srgbClr val="1E2761"/>
          </a:solidFill>
          <a:ln w="12700">
            <a:solidFill>
              <a:srgbClr val="1E2761"/>
            </a:solidFill>
            <a:prstDash val="solid"/>
          </a:ln>
        </p:spPr>
      </p:sp>
      <p:sp>
        <p:nvSpPr>
          <p:cNvPr id="7" name="Shape 5"/>
          <p:cNvSpPr/>
          <p:nvPr/>
        </p:nvSpPr>
        <p:spPr>
          <a:xfrm>
            <a:off x="822960" y="1965960"/>
            <a:ext cx="640080" cy="640080"/>
          </a:xfrm>
          <a:prstGeom prst="ellipse">
            <a:avLst/>
          </a:prstGeom>
          <a:solidFill>
            <a:srgbClr val="141B3D"/>
          </a:solidFill>
          <a:ln w="12700">
            <a:solidFill>
              <a:srgbClr val="141B3D"/>
            </a:solidFill>
            <a:prstDash val="solid"/>
          </a:ln>
        </p:spPr>
      </p:sp>
      <p:pic>
        <p:nvPicPr>
          <p:cNvPr id="8" name="Image 0" descr="preencoded.png">    </p:cNvPr>
          <p:cNvPicPr>
            <a:picLocks noChangeAspect="1"/>
          </p:cNvPicPr>
          <p:nvPr/>
        </p:nvPicPr>
        <p:blipFill>
          <a:blip r:embed="rId1"/>
          <a:stretch>
            <a:fillRect/>
          </a:stretch>
        </p:blipFill>
        <p:spPr>
          <a:xfrm>
            <a:off x="976579" y="2119579"/>
            <a:ext cx="332842" cy="332842"/>
          </a:xfrm>
          <a:prstGeom prst="rect">
            <a:avLst/>
          </a:prstGeom>
        </p:spPr>
      </p:pic>
      <p:sp>
        <p:nvSpPr>
          <p:cNvPr id="9" name="Text 6"/>
          <p:cNvSpPr/>
          <p:nvPr/>
        </p:nvSpPr>
        <p:spPr>
          <a:xfrm>
            <a:off x="1600200" y="1965960"/>
            <a:ext cx="2286000" cy="6400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Who</a:t>
            </a:r>
            <a:endParaRPr lang="en-US" sz="1800" dirty="0"/>
          </a:p>
        </p:txBody>
      </p:sp>
      <p:sp>
        <p:nvSpPr>
          <p:cNvPr id="10" name="Text 7"/>
          <p:cNvSpPr/>
          <p:nvPr/>
        </p:nvSpPr>
        <p:spPr>
          <a:xfrm>
            <a:off x="822960" y="2743200"/>
            <a:ext cx="3200400" cy="1417320"/>
          </a:xfrm>
          <a:prstGeom prst="rect">
            <a:avLst/>
          </a:prstGeom>
          <a:noFill/>
          <a:ln/>
        </p:spPr>
        <p:txBody>
          <a:bodyPr wrap="square" lIns="0" tIns="0" rIns="0" bIns="0" rtlCol="0" anchor="t"/>
          <a:lstStyle/>
          <a:p>
            <a:pPr indent="0" marL="0">
              <a:buNone/>
            </a:pPr>
            <a:r>
              <a:rPr lang="en-US" sz="1300" dirty="0">
                <a:solidFill>
                  <a:srgbClr val="DCE2F2"/>
                </a:solidFill>
                <a:latin typeface="Calibri" pitchFamily="34" charset="0"/>
                <a:ea typeface="Calibri" pitchFamily="34" charset="-122"/>
                <a:cs typeface="Calibri" pitchFamily="34" charset="-120"/>
              </a:rPr>
              <a:t>Municipal and regional planners producing comprehensive plans, housing needs assessments, Consolidated Plans, and Title VI analyses at tract, block group, and place.</a:t>
            </a:r>
            <a:endParaRPr lang="en-US" sz="1300" dirty="0"/>
          </a:p>
        </p:txBody>
      </p:sp>
      <p:sp>
        <p:nvSpPr>
          <p:cNvPr id="11" name="Text 8"/>
          <p:cNvSpPr/>
          <p:nvPr/>
        </p:nvSpPr>
        <p:spPr>
          <a:xfrm>
            <a:off x="822960" y="4206240"/>
            <a:ext cx="3200400" cy="822960"/>
          </a:xfrm>
          <a:prstGeom prst="rect">
            <a:avLst/>
          </a:prstGeom>
          <a:noFill/>
          <a:ln/>
        </p:spPr>
        <p:txBody>
          <a:bodyPr wrap="square" lIns="0" tIns="0" rIns="0" bIns="0" rtlCol="0" anchor="ctr"/>
          <a:lstStyle/>
          <a:p>
            <a:pPr indent="0" marL="0">
              <a:buNone/>
            </a:pPr>
            <a:r>
              <a:rPr lang="en-US" sz="4000" b="1" dirty="0">
                <a:solidFill>
                  <a:srgbClr val="C8A951"/>
                </a:solidFill>
                <a:latin typeface="Cambria" pitchFamily="34" charset="0"/>
                <a:ea typeface="Cambria" pitchFamily="34" charset="-122"/>
                <a:cs typeface="Cambria" pitchFamily="34" charset="-120"/>
              </a:rPr>
              <a:t>n = 200</a:t>
            </a:r>
            <a:endParaRPr lang="en-US" sz="4000" dirty="0"/>
          </a:p>
        </p:txBody>
      </p:sp>
      <p:sp>
        <p:nvSpPr>
          <p:cNvPr id="12" name="Text 9"/>
          <p:cNvSpPr/>
          <p:nvPr/>
        </p:nvSpPr>
        <p:spPr>
          <a:xfrm>
            <a:off x="822960" y="5029200"/>
            <a:ext cx="3200400" cy="1005840"/>
          </a:xfrm>
          <a:prstGeom prst="rect">
            <a:avLst/>
          </a:prstGeom>
          <a:noFill/>
          <a:ln/>
        </p:spPr>
        <p:txBody>
          <a:bodyPr wrap="square" lIns="0" tIns="0" rIns="0" bIns="0" rtlCol="0" anchor="t"/>
          <a:lstStyle/>
          <a:p>
            <a:pPr indent="0" marL="0">
              <a:buNone/>
            </a:pPr>
            <a:r>
              <a:rPr lang="en-US" sz="1200" dirty="0">
                <a:solidFill>
                  <a:srgbClr val="DCE2F2"/>
                </a:solidFill>
                <a:latin typeface="Calibri" pitchFamily="34" charset="0"/>
                <a:ea typeface="Calibri" pitchFamily="34" charset="-122"/>
                <a:cs typeface="Calibri" pitchFamily="34" charset="-120"/>
              </a:rPr>
              <a:t>Planners surveyed, plus 7 interviewed, by Jurjevich et al. 2018. Many do not understand MOE, find it hard to communicate, and avoid reporting it altogether.</a:t>
            </a:r>
            <a:endParaRPr lang="en-US" sz="1200" dirty="0"/>
          </a:p>
        </p:txBody>
      </p:sp>
      <p:sp>
        <p:nvSpPr>
          <p:cNvPr id="13" name="Shape 10"/>
          <p:cNvSpPr/>
          <p:nvPr/>
        </p:nvSpPr>
        <p:spPr>
          <a:xfrm>
            <a:off x="4663440" y="1691640"/>
            <a:ext cx="6976872" cy="2148840"/>
          </a:xfrm>
          <a:prstGeom prst="rect">
            <a:avLst/>
          </a:prstGeom>
          <a:solidFill>
            <a:srgbClr val="EEF1F8"/>
          </a:solidFill>
          <a:ln w="12700">
            <a:solidFill>
              <a:srgbClr val="EEF1F8"/>
            </a:solidFill>
            <a:prstDash val="solid"/>
          </a:ln>
        </p:spPr>
      </p:sp>
      <p:sp>
        <p:nvSpPr>
          <p:cNvPr id="14" name="Text 11"/>
          <p:cNvSpPr/>
          <p:nvPr/>
        </p:nvSpPr>
        <p:spPr>
          <a:xfrm>
            <a:off x="4937760" y="1856232"/>
            <a:ext cx="6428232" cy="347472"/>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What they need</a:t>
            </a:r>
            <a:endParaRPr lang="en-US" sz="1600" dirty="0"/>
          </a:p>
        </p:txBody>
      </p:sp>
      <p:sp>
        <p:nvSpPr>
          <p:cNvPr id="15" name="Text 12"/>
          <p:cNvSpPr/>
          <p:nvPr/>
        </p:nvSpPr>
        <p:spPr>
          <a:xfrm>
            <a:off x="4937760" y="2240280"/>
            <a:ext cx="6428232" cy="150876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CV and MOE as numbers they can footnote</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A significance test before comparing places or years</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Propagation help on rates and shares</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What combining tracts buys in reliability</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Ready-made footnote language</a:t>
            </a:r>
            <a:endParaRPr lang="en-US" sz="1350" dirty="0"/>
          </a:p>
        </p:txBody>
      </p:sp>
      <p:sp>
        <p:nvSpPr>
          <p:cNvPr id="16" name="Shape 13"/>
          <p:cNvSpPr/>
          <p:nvPr/>
        </p:nvSpPr>
        <p:spPr>
          <a:xfrm>
            <a:off x="4663440" y="4069080"/>
            <a:ext cx="6976872" cy="2148840"/>
          </a:xfrm>
          <a:prstGeom prst="rect">
            <a:avLst/>
          </a:prstGeom>
          <a:solidFill>
            <a:srgbClr val="F3F5FA"/>
          </a:solidFill>
          <a:ln w="12700">
            <a:solidFill>
              <a:srgbClr val="F3F5FA"/>
            </a:solidFill>
            <a:prstDash val="solid"/>
          </a:ln>
        </p:spPr>
      </p:sp>
      <p:sp>
        <p:nvSpPr>
          <p:cNvPr id="17" name="Text 14"/>
          <p:cNvSpPr/>
          <p:nvPr/>
        </p:nvSpPr>
        <p:spPr>
          <a:xfrm>
            <a:off x="4937760" y="4233672"/>
            <a:ext cx="6428232" cy="347472"/>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Why they need it</a:t>
            </a:r>
            <a:endParaRPr lang="en-US" sz="1600" dirty="0"/>
          </a:p>
        </p:txBody>
      </p:sp>
      <p:sp>
        <p:nvSpPr>
          <p:cNvPr id="18" name="Text 15"/>
          <p:cNvSpPr/>
          <p:nvPr/>
        </p:nvSpPr>
        <p:spPr>
          <a:xfrm>
            <a:off x="4937760" y="4617720"/>
            <a:ext cx="6428232" cy="150876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Jurjevich et al. propose five guidelines, including always testing before comparing estimates; the survey shows practice falls short (documented)</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Bosses and clients sometimes instruct planners not to report MOE because of its complexity (documented)</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Spielman, Folch and Nagle 2014: tract MOEs average 75% larger than the 2000 long form; county data cannot reach their maps, only their arithmetic (documented)</a:t>
            </a:r>
            <a:endParaRPr lang="en-US" sz="1350" dirty="0"/>
          </a:p>
        </p:txBody>
      </p:sp>
      <p:sp>
        <p:nvSpPr>
          <p:cNvPr id="19" name="Text 16"/>
          <p:cNvSpPr/>
          <p:nvPr/>
        </p:nvSpPr>
        <p:spPr>
          <a:xfrm>
            <a:off x="548640" y="6355080"/>
            <a:ext cx="11091672" cy="27432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Sources: Jurjevich et al., JAPA 84(2) 2018; Spielman, Folch and Nagle, Applied Geography 46, 2014; Chittenden County RPC 2018.</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Academic researchers using published tables</a:t>
            </a:r>
            <a:endParaRPr lang="en-US" sz="3000" dirty="0"/>
          </a:p>
        </p:txBody>
      </p:sp>
      <p:sp>
        <p:nvSpPr>
          <p:cNvPr id="3" name="Text 1"/>
          <p:cNvSpPr/>
          <p:nvPr/>
        </p:nvSpPr>
        <p:spPr>
          <a:xfrm>
            <a:off x="548640" y="1078992"/>
            <a:ext cx="11091672" cy="457200"/>
          </a:xfrm>
          <a:prstGeom prst="rect">
            <a:avLst/>
          </a:prstGeom>
          <a:noFill/>
          <a:ln/>
        </p:spPr>
        <p:txBody>
          <a:bodyPr wrap="square" lIns="0" tIns="0" rIns="0" bIns="0" rtlCol="0" anchor="ctr"/>
          <a:lstStyle/>
          <a:p>
            <a:pPr indent="0" marL="0">
              <a:buNone/>
            </a:pPr>
            <a:r>
              <a:rPr lang="en-US" sz="1500" i="1" dirty="0">
                <a:solidFill>
                  <a:srgbClr val="5A6478"/>
                </a:solidFill>
                <a:latin typeface="Calibri" pitchFamily="34" charset="0"/>
                <a:ea typeface="Calibri" pitchFamily="34" charset="-122"/>
                <a:cs typeface="Calibri" pitchFamily="34" charset="-120"/>
              </a:rPr>
              <a:t>Self-sufficient on microdata. Not on the tables.</a:t>
            </a:r>
            <a:endParaRPr lang="en-US" sz="1500" dirty="0"/>
          </a:p>
        </p:txBody>
      </p:sp>
      <p:sp>
        <p:nvSpPr>
          <p:cNvPr id="4" name="Shape 2"/>
          <p:cNvSpPr/>
          <p:nvPr/>
        </p:nvSpPr>
        <p:spPr>
          <a:xfrm>
            <a:off x="10177272" y="502920"/>
            <a:ext cx="1463040" cy="274320"/>
          </a:xfrm>
          <a:prstGeom prst="roundRect">
            <a:avLst>
              <a:gd name="adj" fmla="val 50000"/>
            </a:avLst>
          </a:prstGeom>
          <a:solidFill>
            <a:srgbClr val="1E2761"/>
          </a:solidFill>
          <a:ln w="12700">
            <a:solidFill>
              <a:srgbClr val="1E2761"/>
            </a:solidFill>
            <a:prstDash val="solid"/>
          </a:ln>
        </p:spPr>
      </p:sp>
      <p:sp>
        <p:nvSpPr>
          <p:cNvPr id="5" name="Text 3"/>
          <p:cNvSpPr/>
          <p:nvPr/>
        </p:nvSpPr>
        <p:spPr>
          <a:xfrm>
            <a:off x="10177272" y="502920"/>
            <a:ext cx="14630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Tier 2</a:t>
            </a:r>
            <a:endParaRPr lang="en-US" sz="1000" dirty="0"/>
          </a:p>
        </p:txBody>
      </p:sp>
      <p:sp>
        <p:nvSpPr>
          <p:cNvPr id="6" name="Shape 4"/>
          <p:cNvSpPr/>
          <p:nvPr/>
        </p:nvSpPr>
        <p:spPr>
          <a:xfrm>
            <a:off x="548640" y="1691640"/>
            <a:ext cx="3749040" cy="4526280"/>
          </a:xfrm>
          <a:prstGeom prst="rect">
            <a:avLst/>
          </a:prstGeom>
          <a:solidFill>
            <a:srgbClr val="1E2761"/>
          </a:solidFill>
          <a:ln w="12700">
            <a:solidFill>
              <a:srgbClr val="1E2761"/>
            </a:solidFill>
            <a:prstDash val="solid"/>
          </a:ln>
        </p:spPr>
      </p:sp>
      <p:sp>
        <p:nvSpPr>
          <p:cNvPr id="7" name="Shape 5"/>
          <p:cNvSpPr/>
          <p:nvPr/>
        </p:nvSpPr>
        <p:spPr>
          <a:xfrm>
            <a:off x="822960" y="1965960"/>
            <a:ext cx="640080" cy="640080"/>
          </a:xfrm>
          <a:prstGeom prst="ellipse">
            <a:avLst/>
          </a:prstGeom>
          <a:solidFill>
            <a:srgbClr val="141B3D"/>
          </a:solidFill>
          <a:ln w="12700">
            <a:solidFill>
              <a:srgbClr val="141B3D"/>
            </a:solidFill>
            <a:prstDash val="solid"/>
          </a:ln>
        </p:spPr>
      </p:sp>
      <p:pic>
        <p:nvPicPr>
          <p:cNvPr id="8" name="Image 0" descr="preencoded.png">    </p:cNvPr>
          <p:cNvPicPr>
            <a:picLocks noChangeAspect="1"/>
          </p:cNvPicPr>
          <p:nvPr/>
        </p:nvPicPr>
        <p:blipFill>
          <a:blip r:embed="rId1"/>
          <a:stretch>
            <a:fillRect/>
          </a:stretch>
        </p:blipFill>
        <p:spPr>
          <a:xfrm>
            <a:off x="976579" y="2119579"/>
            <a:ext cx="332842" cy="332842"/>
          </a:xfrm>
          <a:prstGeom prst="rect">
            <a:avLst/>
          </a:prstGeom>
        </p:spPr>
      </p:pic>
      <p:sp>
        <p:nvSpPr>
          <p:cNvPr id="9" name="Text 6"/>
          <p:cNvSpPr/>
          <p:nvPr/>
        </p:nvSpPr>
        <p:spPr>
          <a:xfrm>
            <a:off x="1600200" y="1965960"/>
            <a:ext cx="2286000" cy="6400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Who</a:t>
            </a:r>
            <a:endParaRPr lang="en-US" sz="1800" dirty="0"/>
          </a:p>
        </p:txBody>
      </p:sp>
      <p:sp>
        <p:nvSpPr>
          <p:cNvPr id="10" name="Text 7"/>
          <p:cNvSpPr/>
          <p:nvPr/>
        </p:nvSpPr>
        <p:spPr>
          <a:xfrm>
            <a:off x="822960" y="2743200"/>
            <a:ext cx="3200400" cy="1417320"/>
          </a:xfrm>
          <a:prstGeom prst="rect">
            <a:avLst/>
          </a:prstGeom>
          <a:noFill/>
          <a:ln/>
        </p:spPr>
        <p:txBody>
          <a:bodyPr wrap="square" lIns="0" tIns="0" rIns="0" bIns="0" rtlCol="0" anchor="t"/>
          <a:lstStyle/>
          <a:p>
            <a:pPr indent="0" marL="0">
              <a:buNone/>
            </a:pPr>
            <a:r>
              <a:rPr lang="en-US" sz="1300" dirty="0">
                <a:solidFill>
                  <a:srgbClr val="DCE2F2"/>
                </a:solidFill>
                <a:latin typeface="Calibri" pitchFamily="34" charset="0"/>
                <a:ea typeface="Calibri" pitchFamily="34" charset="-122"/>
                <a:cs typeface="Calibri" pitchFamily="34" charset="-120"/>
              </a:rPr>
              <a:t>Researchers building indices, segregation measures, and small-area models from ACS 5-year tables at tract and block group, plus PUMS users working at PUMA.</a:t>
            </a:r>
            <a:endParaRPr lang="en-US" sz="1300" dirty="0"/>
          </a:p>
        </p:txBody>
      </p:sp>
      <p:sp>
        <p:nvSpPr>
          <p:cNvPr id="11" name="Text 8"/>
          <p:cNvSpPr/>
          <p:nvPr/>
        </p:nvSpPr>
        <p:spPr>
          <a:xfrm>
            <a:off x="822960" y="4206240"/>
            <a:ext cx="3200400" cy="822960"/>
          </a:xfrm>
          <a:prstGeom prst="rect">
            <a:avLst/>
          </a:prstGeom>
          <a:noFill/>
          <a:ln/>
        </p:spPr>
        <p:txBody>
          <a:bodyPr wrap="square" lIns="0" tIns="0" rIns="0" bIns="0" rtlCol="0" anchor="ctr"/>
          <a:lstStyle/>
          <a:p>
            <a:pPr indent="0" marL="0">
              <a:buNone/>
            </a:pPr>
            <a:r>
              <a:rPr lang="en-US" sz="2600" b="1" dirty="0">
                <a:solidFill>
                  <a:srgbClr val="C8A951"/>
                </a:solidFill>
                <a:latin typeface="Cambria" pitchFamily="34" charset="0"/>
                <a:ea typeface="Cambria" pitchFamily="34" charset="-122"/>
                <a:cs typeface="Cambria" pitchFamily="34" charset="-120"/>
              </a:rPr>
              <a:t>“not yet standard”</a:t>
            </a:r>
            <a:endParaRPr lang="en-US" sz="2600" dirty="0"/>
          </a:p>
        </p:txBody>
      </p:sp>
      <p:sp>
        <p:nvSpPr>
          <p:cNvPr id="12" name="Text 9"/>
          <p:cNvSpPr/>
          <p:nvPr/>
        </p:nvSpPr>
        <p:spPr>
          <a:xfrm>
            <a:off x="822960" y="5029200"/>
            <a:ext cx="3200400" cy="1005840"/>
          </a:xfrm>
          <a:prstGeom prst="rect">
            <a:avLst/>
          </a:prstGeom>
          <a:noFill/>
          <a:ln/>
        </p:spPr>
        <p:txBody>
          <a:bodyPr wrap="square" lIns="0" tIns="0" rIns="0" bIns="0" rtlCol="0" anchor="t"/>
          <a:lstStyle/>
          <a:p>
            <a:pPr indent="0" marL="0">
              <a:buNone/>
            </a:pPr>
            <a:r>
              <a:rPr lang="en-US" sz="1200" dirty="0">
                <a:solidFill>
                  <a:srgbClr val="DCE2F2"/>
                </a:solidFill>
                <a:latin typeface="Calibri" pitchFamily="34" charset="0"/>
                <a:ea typeface="Calibri" pitchFamily="34" charset="-122"/>
                <a:cs typeface="Calibri" pitchFamily="34" charset="-120"/>
              </a:rPr>
              <a:t>A peer-reviewed methods paper's description of using ACS standard errors to evaluate or model reliability. A sub-literature exists to retrofit MOE into segregation indices.</a:t>
            </a:r>
            <a:endParaRPr lang="en-US" sz="1200" dirty="0"/>
          </a:p>
        </p:txBody>
      </p:sp>
      <p:sp>
        <p:nvSpPr>
          <p:cNvPr id="13" name="Shape 10"/>
          <p:cNvSpPr/>
          <p:nvPr/>
        </p:nvSpPr>
        <p:spPr>
          <a:xfrm>
            <a:off x="4663440" y="1691640"/>
            <a:ext cx="6976872" cy="2148840"/>
          </a:xfrm>
          <a:prstGeom prst="rect">
            <a:avLst/>
          </a:prstGeom>
          <a:solidFill>
            <a:srgbClr val="EEF1F8"/>
          </a:solidFill>
          <a:ln w="12700">
            <a:solidFill>
              <a:srgbClr val="EEF1F8"/>
            </a:solidFill>
            <a:prstDash val="solid"/>
          </a:ln>
        </p:spPr>
      </p:sp>
      <p:sp>
        <p:nvSpPr>
          <p:cNvPr id="14" name="Text 11"/>
          <p:cNvSpPr/>
          <p:nvPr/>
        </p:nvSpPr>
        <p:spPr>
          <a:xfrm>
            <a:off x="4937760" y="1856232"/>
            <a:ext cx="6428232" cy="347472"/>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What they need</a:t>
            </a:r>
            <a:endParaRPr lang="en-US" sz="1600" dirty="0"/>
          </a:p>
        </p:txBody>
      </p:sp>
      <p:sp>
        <p:nvSpPr>
          <p:cNvPr id="15" name="Text 12"/>
          <p:cNvSpPr/>
          <p:nvPr/>
        </p:nvSpPr>
        <p:spPr>
          <a:xfrm>
            <a:off x="4937760" y="2240280"/>
            <a:ext cx="6428232" cy="150876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Provenance on every number: table, vintage, formula</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Derived-quantity propagation, since the denominator problem shows up here too</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The overlapping-vintage rule for panel work</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The allocation and imputation view, which this group is best placed to test</a:t>
            </a:r>
            <a:endParaRPr lang="en-US" sz="1350" dirty="0"/>
          </a:p>
        </p:txBody>
      </p:sp>
      <p:sp>
        <p:nvSpPr>
          <p:cNvPr id="16" name="Shape 13"/>
          <p:cNvSpPr/>
          <p:nvPr/>
        </p:nvSpPr>
        <p:spPr>
          <a:xfrm>
            <a:off x="4663440" y="4069080"/>
            <a:ext cx="6976872" cy="2148840"/>
          </a:xfrm>
          <a:prstGeom prst="rect">
            <a:avLst/>
          </a:prstGeom>
          <a:solidFill>
            <a:srgbClr val="F3F5FA"/>
          </a:solidFill>
          <a:ln w="12700">
            <a:solidFill>
              <a:srgbClr val="F3F5FA"/>
            </a:solidFill>
            <a:prstDash val="solid"/>
          </a:ln>
        </p:spPr>
      </p:sp>
      <p:sp>
        <p:nvSpPr>
          <p:cNvPr id="17" name="Text 14"/>
          <p:cNvSpPr/>
          <p:nvPr/>
        </p:nvSpPr>
        <p:spPr>
          <a:xfrm>
            <a:off x="4937760" y="4233672"/>
            <a:ext cx="6428232" cy="347472"/>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Why they need it</a:t>
            </a:r>
            <a:endParaRPr lang="en-US" sz="1600" dirty="0"/>
          </a:p>
        </p:txBody>
      </p:sp>
      <p:sp>
        <p:nvSpPr>
          <p:cNvPr id="18" name="Text 15"/>
          <p:cNvSpPr/>
          <p:nvPr/>
        </p:nvSpPr>
        <p:spPr>
          <a:xfrm>
            <a:off x="4937760" y="4617720"/>
            <a:ext cx="6428232" cy="150876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Napierala and Denton 2017: MOE "has not been incorporated into segregation indexes" (documented)</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IPUMS: users rarely take the trouble to estimate true standard errors because the methods are cumbersome (documented)</a:t>
            </a:r>
            <a:endParaRPr lang="en-US" sz="1350" dirty="0"/>
          </a:p>
          <a:p>
            <a:pPr marL="342900" indent="-342900">
              <a:spcAft>
                <a:spcPts val="500"/>
              </a:spcAft>
              <a:buSzPct val="100000"/>
              <a:buChar char="•"/>
            </a:pPr>
            <a:r>
              <a:rPr lang="en-US" sz="1350" dirty="0">
                <a:solidFill>
                  <a:srgbClr val="24304A"/>
                </a:solidFill>
                <a:latin typeface="Calibri" pitchFamily="34" charset="0"/>
                <a:ea typeface="Calibri" pitchFamily="34" charset="-122"/>
                <a:cs typeface="Calibri" pitchFamily="34" charset="-120"/>
              </a:rPr>
              <a:t>The Bureau discourages 5-year estimates as denominators; the practice is common anyway (documented)</a:t>
            </a:r>
            <a:endParaRPr lang="en-US" sz="1350" dirty="0"/>
          </a:p>
        </p:txBody>
      </p:sp>
      <p:sp>
        <p:nvSpPr>
          <p:cNvPr id="19" name="Text 16"/>
          <p:cNvSpPr/>
          <p:nvPr/>
        </p:nvSpPr>
        <p:spPr>
          <a:xfrm>
            <a:off x="548640" y="6355080"/>
            <a:ext cx="11091672" cy="27432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Sources: Napierala and Denton, Demography 54(1) 2017; Folch, Spielman and Graber, PRPR 2023; IPUMS USA sampling error documentation; Bayesian areal-data methods paper, PMC8297362.</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Four more sub-county users with documented need</a:t>
            </a:r>
            <a:endParaRPr lang="en-US" sz="3000" dirty="0"/>
          </a:p>
        </p:txBody>
      </p:sp>
      <p:sp>
        <p:nvSpPr>
          <p:cNvPr id="3" name="Text 1"/>
          <p:cNvSpPr/>
          <p:nvPr/>
        </p:nvSpPr>
        <p:spPr>
          <a:xfrm>
            <a:off x="548640" y="1078992"/>
            <a:ext cx="11091672" cy="457200"/>
          </a:xfrm>
          <a:prstGeom prst="rect">
            <a:avLst/>
          </a:prstGeom>
          <a:noFill/>
          <a:ln/>
        </p:spPr>
        <p:txBody>
          <a:bodyPr wrap="square" lIns="0" tIns="0" rIns="0" bIns="0" rtlCol="0" anchor="ctr"/>
          <a:lstStyle/>
          <a:p>
            <a:pPr indent="0" marL="0">
              <a:buNone/>
            </a:pPr>
            <a:r>
              <a:rPr lang="en-US" sz="1500" i="1" dirty="0">
                <a:solidFill>
                  <a:srgbClr val="5A6478"/>
                </a:solidFill>
                <a:latin typeface="Calibri" pitchFamily="34" charset="0"/>
                <a:ea typeface="Calibri" pitchFamily="34" charset="-122"/>
                <a:cs typeface="Calibri" pitchFamily="34" charset="-120"/>
              </a:rPr>
              <a:t>Same pattern each time: the pain is real, the geography is below county.</a:t>
            </a:r>
            <a:endParaRPr lang="en-US" sz="1500" dirty="0"/>
          </a:p>
        </p:txBody>
      </p:sp>
      <p:sp>
        <p:nvSpPr>
          <p:cNvPr id="4" name="Shape 2"/>
          <p:cNvSpPr/>
          <p:nvPr/>
        </p:nvSpPr>
        <p:spPr>
          <a:xfrm>
            <a:off x="10177272" y="502920"/>
            <a:ext cx="1463040" cy="274320"/>
          </a:xfrm>
          <a:prstGeom prst="roundRect">
            <a:avLst>
              <a:gd name="adj" fmla="val 50000"/>
            </a:avLst>
          </a:prstGeom>
          <a:solidFill>
            <a:srgbClr val="1E2761"/>
          </a:solidFill>
          <a:ln w="12700">
            <a:solidFill>
              <a:srgbClr val="1E2761"/>
            </a:solidFill>
            <a:prstDash val="solid"/>
          </a:ln>
        </p:spPr>
      </p:sp>
      <p:sp>
        <p:nvSpPr>
          <p:cNvPr id="5" name="Text 3"/>
          <p:cNvSpPr/>
          <p:nvPr/>
        </p:nvSpPr>
        <p:spPr>
          <a:xfrm>
            <a:off x="10177272" y="502920"/>
            <a:ext cx="14630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Tier 2</a:t>
            </a:r>
            <a:endParaRPr lang="en-US" sz="1000" dirty="0"/>
          </a:p>
        </p:txBody>
      </p:sp>
      <p:sp>
        <p:nvSpPr>
          <p:cNvPr id="6" name="Shape 4"/>
          <p:cNvSpPr/>
          <p:nvPr/>
        </p:nvSpPr>
        <p:spPr>
          <a:xfrm>
            <a:off x="548640" y="1645920"/>
            <a:ext cx="5385816" cy="2103120"/>
          </a:xfrm>
          <a:prstGeom prst="rect">
            <a:avLst/>
          </a:prstGeom>
          <a:solidFill>
            <a:srgbClr val="EEF1F8"/>
          </a:solidFill>
          <a:ln w="12700">
            <a:solidFill>
              <a:srgbClr val="DDE3EF"/>
            </a:solidFill>
            <a:prstDash val="solid"/>
          </a:ln>
        </p:spPr>
      </p:sp>
      <p:sp>
        <p:nvSpPr>
          <p:cNvPr id="7" name="Shape 5"/>
          <p:cNvSpPr/>
          <p:nvPr/>
        </p:nvSpPr>
        <p:spPr>
          <a:xfrm>
            <a:off x="777240" y="1874520"/>
            <a:ext cx="548640" cy="548640"/>
          </a:xfrm>
          <a:prstGeom prst="ellipse">
            <a:avLst/>
          </a:prstGeom>
          <a:solidFill>
            <a:srgbClr val="1E2761"/>
          </a:solidFill>
          <a:ln w="12700">
            <a:solidFill>
              <a:srgbClr val="1E2761"/>
            </a:solidFill>
            <a:prstDash val="solid"/>
          </a:ln>
        </p:spPr>
      </p:sp>
      <p:pic>
        <p:nvPicPr>
          <p:cNvPr id="8" name="Image 0" descr="preencoded.png">    </p:cNvPr>
          <p:cNvPicPr>
            <a:picLocks noChangeAspect="1"/>
          </p:cNvPicPr>
          <p:nvPr/>
        </p:nvPicPr>
        <p:blipFill>
          <a:blip r:embed="rId1"/>
          <a:stretch>
            <a:fillRect/>
          </a:stretch>
        </p:blipFill>
        <p:spPr>
          <a:xfrm>
            <a:off x="908914" y="2006194"/>
            <a:ext cx="285293" cy="285293"/>
          </a:xfrm>
          <a:prstGeom prst="rect">
            <a:avLst/>
          </a:prstGeom>
        </p:spPr>
      </p:pic>
      <p:sp>
        <p:nvSpPr>
          <p:cNvPr id="9" name="Text 6"/>
          <p:cNvSpPr/>
          <p:nvPr/>
        </p:nvSpPr>
        <p:spPr>
          <a:xfrm>
            <a:off x="1463040" y="1874520"/>
            <a:ext cx="4242816" cy="5486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Health-index builders</a:t>
            </a:r>
            <a:endParaRPr lang="en-US" sz="1600" dirty="0"/>
          </a:p>
        </p:txBody>
      </p:sp>
      <p:sp>
        <p:nvSpPr>
          <p:cNvPr id="10" name="Text 7"/>
          <p:cNvSpPr/>
          <p:nvPr/>
        </p:nvSpPr>
        <p:spPr>
          <a:xfrm>
            <a:off x="777240" y="2514600"/>
            <a:ext cx="4928616" cy="1097280"/>
          </a:xfrm>
          <a:prstGeom prst="rect">
            <a:avLst/>
          </a:prstGeom>
          <a:noFill/>
          <a:ln/>
        </p:spPr>
        <p:txBody>
          <a:bodyPr wrap="square" lIns="0" tIns="0" rIns="0" bIns="0" rtlCol="0" anchor="t"/>
          <a:lstStyle/>
          <a:p>
            <a:pPr indent="0" marL="0">
              <a:spcAft>
                <a:spcPts val="400"/>
              </a:spcAft>
              <a:buNone/>
            </a:pPr>
            <a:r>
              <a:rPr lang="en-US" sz="1250" b="1" dirty="0">
                <a:solidFill>
                  <a:srgbClr val="1E2761"/>
                </a:solidFill>
                <a:latin typeface="Calibri" pitchFamily="34" charset="0"/>
                <a:ea typeface="Calibri" pitchFamily="34" charset="-122"/>
                <a:cs typeface="Calibri" pitchFamily="34" charset="-120"/>
              </a:rPr>
              <a:t>Who: </a:t>
            </a:r>
            <a:pPr indent="0" marL="0">
              <a:spcAft>
                <a:spcPts val="400"/>
              </a:spcAft>
              <a:buNone/>
            </a:pPr>
            <a:r>
              <a:rPr lang="en-US" sz="1250" dirty="0">
                <a:solidFill>
                  <a:srgbClr val="24304A"/>
                </a:solidFill>
                <a:latin typeface="Calibri" pitchFamily="34" charset="0"/>
                <a:ea typeface="Calibri" pitchFamily="34" charset="-122"/>
                <a:cs typeface="Calibri" pitchFamily="34" charset="-120"/>
              </a:rPr>
              <a:t>SVI and ADI at block group and tract; they feed CMS payment rules.</a:t>
            </a:r>
            <a:endParaRPr lang="en-US" sz="1250" dirty="0"/>
          </a:p>
          <a:p>
            <a:pPr indent="0" marL="0">
              <a:spcAft>
                <a:spcPts val="400"/>
              </a:spcAft>
              <a:buNone/>
            </a:pPr>
            <a:r>
              <a:rPr lang="en-US" sz="1250" b="1" dirty="0">
                <a:solidFill>
                  <a:srgbClr val="1E2761"/>
                </a:solidFill>
                <a:latin typeface="Calibri" pitchFamily="34" charset="0"/>
                <a:ea typeface="Calibri" pitchFamily="34" charset="-122"/>
                <a:cs typeface="Calibri" pitchFamily="34" charset="-120"/>
              </a:rPr>
              <a:t>Why: </a:t>
            </a:r>
            <a:pPr indent="0" marL="0">
              <a:spcAft>
                <a:spcPts val="400"/>
              </a:spcAft>
              <a:buNone/>
            </a:pPr>
            <a:r>
              <a:rPr lang="en-US" sz="1250" dirty="0">
                <a:solidFill>
                  <a:srgbClr val="24304A"/>
                </a:solidFill>
                <a:latin typeface="Calibri" pitchFamily="34" charset="0"/>
                <a:ea typeface="Calibri" pitchFamily="34" charset="-122"/>
                <a:cs typeface="Calibri" pitchFamily="34" charset="-120"/>
              </a:rPr>
              <a:t>Health Affairs: block-group home-value MOE averages $105,418 in the lowest-ownership decile. SVI ships MOEs but does not use them in its ranks.</a:t>
            </a:r>
            <a:endParaRPr lang="en-US" sz="1250" dirty="0"/>
          </a:p>
          <a:p>
            <a:pPr indent="0" marL="0">
              <a:spcAft>
                <a:spcPts val="400"/>
              </a:spcAft>
              <a:buNone/>
            </a:pPr>
            <a:r>
              <a:rPr lang="en-US" sz="1250" b="1" dirty="0">
                <a:solidFill>
                  <a:srgbClr val="1E2761"/>
                </a:solidFill>
                <a:latin typeface="Calibri" pitchFamily="34" charset="0"/>
                <a:ea typeface="Calibri" pitchFamily="34" charset="-122"/>
                <a:cs typeface="Calibri" pitchFamily="34" charset="-120"/>
              </a:rPr>
              <a:t>Reach: </a:t>
            </a:r>
            <a:pPr indent="0" marL="0">
              <a:spcAft>
                <a:spcPts val="400"/>
              </a:spcAft>
              <a:buNone/>
            </a:pPr>
            <a:r>
              <a:rPr lang="en-US" sz="1250" dirty="0">
                <a:solidFill>
                  <a:srgbClr val="24304A"/>
                </a:solidFill>
                <a:latin typeface="Calibri" pitchFamily="34" charset="0"/>
                <a:ea typeface="Calibri" pitchFamily="34" charset="-122"/>
                <a:cs typeface="Calibri" pitchFamily="34" charset="-120"/>
              </a:rPr>
              <a:t>Propagation and aggregation on numbers they bring</a:t>
            </a:r>
            <a:endParaRPr lang="en-US" sz="1250" dirty="0"/>
          </a:p>
        </p:txBody>
      </p:sp>
      <p:sp>
        <p:nvSpPr>
          <p:cNvPr id="11" name="Shape 8"/>
          <p:cNvSpPr/>
          <p:nvPr/>
        </p:nvSpPr>
        <p:spPr>
          <a:xfrm>
            <a:off x="6254496" y="1645920"/>
            <a:ext cx="5385816" cy="2103120"/>
          </a:xfrm>
          <a:prstGeom prst="rect">
            <a:avLst/>
          </a:prstGeom>
          <a:solidFill>
            <a:srgbClr val="F3F5FA"/>
          </a:solidFill>
          <a:ln w="12700">
            <a:solidFill>
              <a:srgbClr val="DDE3EF"/>
            </a:solidFill>
            <a:prstDash val="solid"/>
          </a:ln>
        </p:spPr>
      </p:sp>
      <p:sp>
        <p:nvSpPr>
          <p:cNvPr id="12" name="Shape 9"/>
          <p:cNvSpPr/>
          <p:nvPr/>
        </p:nvSpPr>
        <p:spPr>
          <a:xfrm>
            <a:off x="6483096" y="1874520"/>
            <a:ext cx="548640" cy="548640"/>
          </a:xfrm>
          <a:prstGeom prst="ellipse">
            <a:avLst/>
          </a:prstGeom>
          <a:solidFill>
            <a:srgbClr val="1E2761"/>
          </a:solidFill>
          <a:ln w="12700">
            <a:solidFill>
              <a:srgbClr val="1E2761"/>
            </a:solidFill>
            <a:prstDash val="solid"/>
          </a:ln>
        </p:spPr>
      </p:sp>
      <p:pic>
        <p:nvPicPr>
          <p:cNvPr id="13" name="Image 1" descr="preencoded.png">    </p:cNvPr>
          <p:cNvPicPr>
            <a:picLocks noChangeAspect="1"/>
          </p:cNvPicPr>
          <p:nvPr/>
        </p:nvPicPr>
        <p:blipFill>
          <a:blip r:embed="rId2"/>
          <a:stretch>
            <a:fillRect/>
          </a:stretch>
        </p:blipFill>
        <p:spPr>
          <a:xfrm>
            <a:off x="6614770" y="2006194"/>
            <a:ext cx="285293" cy="285293"/>
          </a:xfrm>
          <a:prstGeom prst="rect">
            <a:avLst/>
          </a:prstGeom>
        </p:spPr>
      </p:pic>
      <p:sp>
        <p:nvSpPr>
          <p:cNvPr id="14" name="Text 10"/>
          <p:cNvSpPr/>
          <p:nvPr/>
        </p:nvSpPr>
        <p:spPr>
          <a:xfrm>
            <a:off x="7168896" y="1874520"/>
            <a:ext cx="4242816" cy="5486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Transportation and MPO analysts</a:t>
            </a:r>
            <a:endParaRPr lang="en-US" sz="1600" dirty="0"/>
          </a:p>
        </p:txBody>
      </p:sp>
      <p:sp>
        <p:nvSpPr>
          <p:cNvPr id="15" name="Text 11"/>
          <p:cNvSpPr/>
          <p:nvPr/>
        </p:nvSpPr>
        <p:spPr>
          <a:xfrm>
            <a:off x="6483096" y="2514600"/>
            <a:ext cx="4928616" cy="1097280"/>
          </a:xfrm>
          <a:prstGeom prst="rect">
            <a:avLst/>
          </a:prstGeom>
          <a:noFill/>
          <a:ln/>
        </p:spPr>
        <p:txBody>
          <a:bodyPr wrap="square" lIns="0" tIns="0" rIns="0" bIns="0" rtlCol="0" anchor="t"/>
          <a:lstStyle/>
          <a:p>
            <a:pPr indent="0" marL="0">
              <a:spcAft>
                <a:spcPts val="400"/>
              </a:spcAft>
              <a:buNone/>
            </a:pPr>
            <a:r>
              <a:rPr lang="en-US" sz="1250" b="1" dirty="0">
                <a:solidFill>
                  <a:srgbClr val="1E2761"/>
                </a:solidFill>
                <a:latin typeface="Calibri" pitchFamily="34" charset="0"/>
                <a:ea typeface="Calibri" pitchFamily="34" charset="-122"/>
                <a:cs typeface="Calibri" pitchFamily="34" charset="-120"/>
              </a:rPr>
              <a:t>Who: </a:t>
            </a:r>
            <a:pPr indent="0" marL="0">
              <a:spcAft>
                <a:spcPts val="400"/>
              </a:spcAft>
              <a:buNone/>
            </a:pPr>
            <a:r>
              <a:rPr lang="en-US" sz="1250" dirty="0">
                <a:solidFill>
                  <a:srgbClr val="24304A"/>
                </a:solidFill>
                <a:latin typeface="Calibri" pitchFamily="34" charset="0"/>
                <a:ea typeface="Calibri" pitchFamily="34" charset="-122"/>
                <a:cs typeface="Calibri" pitchFamily="34" charset="-120"/>
              </a:rPr>
              <a:t>CTPP, a special ACS tabulation, at TAZ and tract. About 450 MPOs nationally.</a:t>
            </a:r>
            <a:endParaRPr lang="en-US" sz="1250" dirty="0"/>
          </a:p>
          <a:p>
            <a:pPr indent="0" marL="0">
              <a:spcAft>
                <a:spcPts val="400"/>
              </a:spcAft>
              <a:buNone/>
            </a:pPr>
            <a:r>
              <a:rPr lang="en-US" sz="1250" b="1" dirty="0">
                <a:solidFill>
                  <a:srgbClr val="1E2761"/>
                </a:solidFill>
                <a:latin typeface="Calibri" pitchFamily="34" charset="0"/>
                <a:ea typeface="Calibri" pitchFamily="34" charset="-122"/>
                <a:cs typeface="Calibri" pitchFamily="34" charset="-120"/>
              </a:rPr>
              <a:t>Why: </a:t>
            </a:r>
            <a:pPr indent="0" marL="0">
              <a:spcAft>
                <a:spcPts val="400"/>
              </a:spcAft>
              <a:buNone/>
            </a:pPr>
            <a:r>
              <a:rPr lang="en-US" sz="1250" dirty="0">
                <a:solidFill>
                  <a:srgbClr val="24304A"/>
                </a:solidFill>
                <a:latin typeface="Calibri" pitchFamily="34" charset="0"/>
                <a:ea typeface="Calibri" pitchFamily="34" charset="-122"/>
                <a:cs typeface="Calibri" pitchFamily="34" charset="-120"/>
              </a:rPr>
              <a:t>AASHTO: if the MOE is high, consider another source. CTPP custom tables add perturbation noise on top of sampling error.</a:t>
            </a:r>
            <a:endParaRPr lang="en-US" sz="1250" dirty="0"/>
          </a:p>
          <a:p>
            <a:pPr indent="0" marL="0">
              <a:spcAft>
                <a:spcPts val="400"/>
              </a:spcAft>
              <a:buNone/>
            </a:pPr>
            <a:r>
              <a:rPr lang="en-US" sz="1250" b="1" dirty="0">
                <a:solidFill>
                  <a:srgbClr val="1E2761"/>
                </a:solidFill>
                <a:latin typeface="Calibri" pitchFamily="34" charset="0"/>
                <a:ea typeface="Calibri" pitchFamily="34" charset="-122"/>
                <a:cs typeface="Calibri" pitchFamily="34" charset="-120"/>
              </a:rPr>
              <a:t>Reach: </a:t>
            </a:r>
            <a:pPr indent="0" marL="0">
              <a:spcAft>
                <a:spcPts val="400"/>
              </a:spcAft>
              <a:buNone/>
            </a:pPr>
            <a:r>
              <a:rPr lang="en-US" sz="1250" dirty="0">
                <a:solidFill>
                  <a:srgbClr val="24304A"/>
                </a:solidFill>
                <a:latin typeface="Calibri" pitchFamily="34" charset="0"/>
                <a:ea typeface="Calibri" pitchFamily="34" charset="-122"/>
                <a:cs typeface="Calibri" pitchFamily="34" charset="-120"/>
              </a:rPr>
              <a:t>Significance test and propagation on pasted CTPP values</a:t>
            </a:r>
            <a:endParaRPr lang="en-US" sz="1250" dirty="0"/>
          </a:p>
        </p:txBody>
      </p:sp>
      <p:sp>
        <p:nvSpPr>
          <p:cNvPr id="16" name="Shape 12"/>
          <p:cNvSpPr/>
          <p:nvPr/>
        </p:nvSpPr>
        <p:spPr>
          <a:xfrm>
            <a:off x="548640" y="4023360"/>
            <a:ext cx="5385816" cy="2103120"/>
          </a:xfrm>
          <a:prstGeom prst="rect">
            <a:avLst/>
          </a:prstGeom>
          <a:solidFill>
            <a:srgbClr val="F3F5FA"/>
          </a:solidFill>
          <a:ln w="12700">
            <a:solidFill>
              <a:srgbClr val="DDE3EF"/>
            </a:solidFill>
            <a:prstDash val="solid"/>
          </a:ln>
        </p:spPr>
      </p:sp>
      <p:sp>
        <p:nvSpPr>
          <p:cNvPr id="17" name="Shape 13"/>
          <p:cNvSpPr/>
          <p:nvPr/>
        </p:nvSpPr>
        <p:spPr>
          <a:xfrm>
            <a:off x="777240" y="4251960"/>
            <a:ext cx="548640" cy="548640"/>
          </a:xfrm>
          <a:prstGeom prst="ellipse">
            <a:avLst/>
          </a:prstGeom>
          <a:solidFill>
            <a:srgbClr val="1E2761"/>
          </a:solidFill>
          <a:ln w="12700">
            <a:solidFill>
              <a:srgbClr val="1E2761"/>
            </a:solidFill>
            <a:prstDash val="solid"/>
          </a:ln>
        </p:spPr>
      </p:sp>
      <p:pic>
        <p:nvPicPr>
          <p:cNvPr id="18" name="Image 2" descr="preencoded.png">    </p:cNvPr>
          <p:cNvPicPr>
            <a:picLocks noChangeAspect="1"/>
          </p:cNvPicPr>
          <p:nvPr/>
        </p:nvPicPr>
        <p:blipFill>
          <a:blip r:embed="rId3"/>
          <a:stretch>
            <a:fillRect/>
          </a:stretch>
        </p:blipFill>
        <p:spPr>
          <a:xfrm>
            <a:off x="908914" y="4383634"/>
            <a:ext cx="285293" cy="285293"/>
          </a:xfrm>
          <a:prstGeom prst="rect">
            <a:avLst/>
          </a:prstGeom>
        </p:spPr>
      </p:pic>
      <p:sp>
        <p:nvSpPr>
          <p:cNvPr id="19" name="Text 14"/>
          <p:cNvSpPr/>
          <p:nvPr/>
        </p:nvSpPr>
        <p:spPr>
          <a:xfrm>
            <a:off x="1463040" y="4251960"/>
            <a:ext cx="4242816" cy="5486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Housing and community development</a:t>
            </a:r>
            <a:endParaRPr lang="en-US" sz="1600" dirty="0"/>
          </a:p>
        </p:txBody>
      </p:sp>
      <p:sp>
        <p:nvSpPr>
          <p:cNvPr id="20" name="Text 15"/>
          <p:cNvSpPr/>
          <p:nvPr/>
        </p:nvSpPr>
        <p:spPr>
          <a:xfrm>
            <a:off x="777240" y="4892040"/>
            <a:ext cx="4928616" cy="1097280"/>
          </a:xfrm>
          <a:prstGeom prst="rect">
            <a:avLst/>
          </a:prstGeom>
          <a:noFill/>
          <a:ln/>
        </p:spPr>
        <p:txBody>
          <a:bodyPr wrap="square" lIns="0" tIns="0" rIns="0" bIns="0" rtlCol="0" anchor="t"/>
          <a:lstStyle/>
          <a:p>
            <a:pPr indent="0" marL="0">
              <a:spcAft>
                <a:spcPts val="400"/>
              </a:spcAft>
              <a:buNone/>
            </a:pPr>
            <a:r>
              <a:rPr lang="en-US" sz="1250" b="1" dirty="0">
                <a:solidFill>
                  <a:srgbClr val="1E2761"/>
                </a:solidFill>
                <a:latin typeface="Calibri" pitchFamily="34" charset="0"/>
                <a:ea typeface="Calibri" pitchFamily="34" charset="-122"/>
                <a:cs typeface="Calibri" pitchFamily="34" charset="-120"/>
              </a:rPr>
              <a:t>Who: </a:t>
            </a:r>
            <a:pPr indent="0" marL="0">
              <a:spcAft>
                <a:spcPts val="400"/>
              </a:spcAft>
              <a:buNone/>
            </a:pPr>
            <a:r>
              <a:rPr lang="en-US" sz="1250" dirty="0">
                <a:solidFill>
                  <a:srgbClr val="24304A"/>
                </a:solidFill>
                <a:latin typeface="Calibri" pitchFamily="34" charset="0"/>
                <a:ea typeface="Calibri" pitchFamily="34" charset="-122"/>
                <a:cs typeface="Calibri" pitchFamily="34" charset="-120"/>
              </a:rPr>
              <a:t>CHAS, income limits, LIHTC market studies at block group to county.</a:t>
            </a:r>
            <a:endParaRPr lang="en-US" sz="1250" dirty="0"/>
          </a:p>
          <a:p>
            <a:pPr indent="0" marL="0">
              <a:spcAft>
                <a:spcPts val="400"/>
              </a:spcAft>
              <a:buNone/>
            </a:pPr>
            <a:r>
              <a:rPr lang="en-US" sz="1250" b="1" dirty="0">
                <a:solidFill>
                  <a:srgbClr val="1E2761"/>
                </a:solidFill>
                <a:latin typeface="Calibri" pitchFamily="34" charset="0"/>
                <a:ea typeface="Calibri" pitchFamily="34" charset="-122"/>
                <a:cs typeface="Calibri" pitchFamily="34" charset="-120"/>
              </a:rPr>
              <a:t>Why: </a:t>
            </a:r>
            <a:pPr indent="0" marL="0">
              <a:spcAft>
                <a:spcPts val="400"/>
              </a:spcAft>
              <a:buNone/>
            </a:pPr>
            <a:r>
              <a:rPr lang="en-US" sz="1250" dirty="0">
                <a:solidFill>
                  <a:srgbClr val="24304A"/>
                </a:solidFill>
                <a:latin typeface="Calibri" pitchFamily="34" charset="0"/>
                <a:ea typeface="Calibri" pitchFamily="34" charset="-122"/>
                <a:cs typeface="Calibri" pitchFamily="34" charset="-120"/>
              </a:rPr>
              <a:t>HUD publishes MOE for income limits and LMISD but the CHAS query tool does not surface it. Rounding breaks additivity.</a:t>
            </a:r>
            <a:endParaRPr lang="en-US" sz="1250" dirty="0"/>
          </a:p>
          <a:p>
            <a:pPr indent="0" marL="0">
              <a:spcAft>
                <a:spcPts val="400"/>
              </a:spcAft>
              <a:buNone/>
            </a:pPr>
            <a:r>
              <a:rPr lang="en-US" sz="1250" b="1" dirty="0">
                <a:solidFill>
                  <a:srgbClr val="1E2761"/>
                </a:solidFill>
                <a:latin typeface="Calibri" pitchFamily="34" charset="0"/>
                <a:ea typeface="Calibri" pitchFamily="34" charset="-122"/>
                <a:cs typeface="Calibri" pitchFamily="34" charset="-120"/>
              </a:rPr>
              <a:t>Reach: </a:t>
            </a:r>
            <a:pPr indent="0" marL="0">
              <a:spcAft>
                <a:spcPts val="400"/>
              </a:spcAft>
              <a:buNone/>
            </a:pPr>
            <a:r>
              <a:rPr lang="en-US" sz="1250" dirty="0">
                <a:solidFill>
                  <a:srgbClr val="24304A"/>
                </a:solidFill>
                <a:latin typeface="Calibri" pitchFamily="34" charset="0"/>
                <a:ea typeface="Calibri" pitchFamily="34" charset="-122"/>
                <a:cs typeface="Calibri" pitchFamily="34" charset="-120"/>
              </a:rPr>
              <a:t>Cutoff check mirroring HUD's own MOE rule</a:t>
            </a:r>
            <a:endParaRPr lang="en-US" sz="1250" dirty="0"/>
          </a:p>
        </p:txBody>
      </p:sp>
      <p:sp>
        <p:nvSpPr>
          <p:cNvPr id="21" name="Shape 16"/>
          <p:cNvSpPr/>
          <p:nvPr/>
        </p:nvSpPr>
        <p:spPr>
          <a:xfrm>
            <a:off x="6254496" y="4023360"/>
            <a:ext cx="5385816" cy="2103120"/>
          </a:xfrm>
          <a:prstGeom prst="rect">
            <a:avLst/>
          </a:prstGeom>
          <a:solidFill>
            <a:srgbClr val="EEF1F8"/>
          </a:solidFill>
          <a:ln w="12700">
            <a:solidFill>
              <a:srgbClr val="DDE3EF"/>
            </a:solidFill>
            <a:prstDash val="solid"/>
          </a:ln>
        </p:spPr>
      </p:sp>
      <p:sp>
        <p:nvSpPr>
          <p:cNvPr id="22" name="Shape 17"/>
          <p:cNvSpPr/>
          <p:nvPr/>
        </p:nvSpPr>
        <p:spPr>
          <a:xfrm>
            <a:off x="6483096" y="4251960"/>
            <a:ext cx="548640" cy="548640"/>
          </a:xfrm>
          <a:prstGeom prst="ellipse">
            <a:avLst/>
          </a:prstGeom>
          <a:solidFill>
            <a:srgbClr val="1E2761"/>
          </a:solidFill>
          <a:ln w="12700">
            <a:solidFill>
              <a:srgbClr val="1E2761"/>
            </a:solidFill>
            <a:prstDash val="solid"/>
          </a:ln>
        </p:spPr>
      </p:sp>
      <p:pic>
        <p:nvPicPr>
          <p:cNvPr id="23" name="Image 3" descr="preencoded.png">    </p:cNvPr>
          <p:cNvPicPr>
            <a:picLocks noChangeAspect="1"/>
          </p:cNvPicPr>
          <p:nvPr/>
        </p:nvPicPr>
        <p:blipFill>
          <a:blip r:embed="rId4"/>
          <a:stretch>
            <a:fillRect/>
          </a:stretch>
        </p:blipFill>
        <p:spPr>
          <a:xfrm>
            <a:off x="6614770" y="4383634"/>
            <a:ext cx="285293" cy="285293"/>
          </a:xfrm>
          <a:prstGeom prst="rect">
            <a:avLst/>
          </a:prstGeom>
        </p:spPr>
      </p:pic>
      <p:sp>
        <p:nvSpPr>
          <p:cNvPr id="24" name="Text 18"/>
          <p:cNvSpPr/>
          <p:nvPr/>
        </p:nvSpPr>
        <p:spPr>
          <a:xfrm>
            <a:off x="7168896" y="4251960"/>
            <a:ext cx="4242816" cy="5486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EJ analysts and community groups</a:t>
            </a:r>
            <a:endParaRPr lang="en-US" sz="1600" dirty="0"/>
          </a:p>
        </p:txBody>
      </p:sp>
      <p:sp>
        <p:nvSpPr>
          <p:cNvPr id="25" name="Text 19"/>
          <p:cNvSpPr/>
          <p:nvPr/>
        </p:nvSpPr>
        <p:spPr>
          <a:xfrm>
            <a:off x="6483096" y="4892040"/>
            <a:ext cx="4928616" cy="1097280"/>
          </a:xfrm>
          <a:prstGeom prst="rect">
            <a:avLst/>
          </a:prstGeom>
          <a:noFill/>
          <a:ln/>
        </p:spPr>
        <p:txBody>
          <a:bodyPr wrap="square" lIns="0" tIns="0" rIns="0" bIns="0" rtlCol="0" anchor="t"/>
          <a:lstStyle/>
          <a:p>
            <a:pPr indent="0" marL="0">
              <a:spcAft>
                <a:spcPts val="400"/>
              </a:spcAft>
              <a:buNone/>
            </a:pPr>
            <a:r>
              <a:rPr lang="en-US" sz="1250" b="1" dirty="0">
                <a:solidFill>
                  <a:srgbClr val="1E2761"/>
                </a:solidFill>
                <a:latin typeface="Calibri" pitchFamily="34" charset="0"/>
                <a:ea typeface="Calibri" pitchFamily="34" charset="-122"/>
                <a:cs typeface="Calibri" pitchFamily="34" charset="-120"/>
              </a:rPr>
              <a:t>Who: </a:t>
            </a:r>
            <a:pPr indent="0" marL="0">
              <a:spcAft>
                <a:spcPts val="400"/>
              </a:spcAft>
              <a:buNone/>
            </a:pPr>
            <a:r>
              <a:rPr lang="en-US" sz="1250" dirty="0">
                <a:solidFill>
                  <a:srgbClr val="24304A"/>
                </a:solidFill>
                <a:latin typeface="Calibri" pitchFamily="34" charset="0"/>
                <a:ea typeface="Calibri" pitchFamily="34" charset="-122"/>
                <a:cs typeface="Calibri" pitchFamily="34" charset="-120"/>
              </a:rPr>
              <a:t>EJScreen at block group; neighborhood indicators for grant writing.</a:t>
            </a:r>
            <a:endParaRPr lang="en-US" sz="1250" dirty="0"/>
          </a:p>
          <a:p>
            <a:pPr indent="0" marL="0">
              <a:spcAft>
                <a:spcPts val="400"/>
              </a:spcAft>
              <a:buNone/>
            </a:pPr>
            <a:r>
              <a:rPr lang="en-US" sz="1250" b="1" dirty="0">
                <a:solidFill>
                  <a:srgbClr val="1E2761"/>
                </a:solidFill>
                <a:latin typeface="Calibri" pitchFamily="34" charset="0"/>
                <a:ea typeface="Calibri" pitchFamily="34" charset="-122"/>
                <a:cs typeface="Calibri" pitchFamily="34" charset="-120"/>
              </a:rPr>
              <a:t>Why: </a:t>
            </a:r>
            <a:pPr indent="0" marL="0">
              <a:spcAft>
                <a:spcPts val="400"/>
              </a:spcAft>
              <a:buNone/>
            </a:pPr>
            <a:r>
              <a:rPr lang="en-US" sz="1250" dirty="0">
                <a:solidFill>
                  <a:srgbClr val="24304A"/>
                </a:solidFill>
                <a:latin typeface="Calibri" pitchFamily="34" charset="0"/>
                <a:ea typeface="Calibri" pitchFamily="34" charset="-122"/>
                <a:cs typeface="Calibri" pitchFamily="34" charset="-120"/>
              </a:rPr>
              <a:t>EJScreen docs concede MOE grows as population shrinks and hide it. NNIP partners write their own MOE guides.</a:t>
            </a:r>
            <a:endParaRPr lang="en-US" sz="1250" dirty="0"/>
          </a:p>
          <a:p>
            <a:pPr indent="0" marL="0">
              <a:spcAft>
                <a:spcPts val="400"/>
              </a:spcAft>
              <a:buNone/>
            </a:pPr>
            <a:r>
              <a:rPr lang="en-US" sz="1250" b="1" dirty="0">
                <a:solidFill>
                  <a:srgbClr val="1E2761"/>
                </a:solidFill>
                <a:latin typeface="Calibri" pitchFamily="34" charset="0"/>
                <a:ea typeface="Calibri" pitchFamily="34" charset="-122"/>
                <a:cs typeface="Calibri" pitchFamily="34" charset="-120"/>
              </a:rPr>
              <a:t>Reach: </a:t>
            </a:r>
            <a:pPr indent="0" marL="0">
              <a:spcAft>
                <a:spcPts val="400"/>
              </a:spcAft>
              <a:buNone/>
            </a:pPr>
            <a:r>
              <a:rPr lang="en-US" sz="1250" dirty="0">
                <a:solidFill>
                  <a:srgbClr val="24304A"/>
                </a:solidFill>
                <a:latin typeface="Calibri" pitchFamily="34" charset="0"/>
                <a:ea typeface="Calibri" pitchFamily="34" charset="-122"/>
                <a:cs typeface="Calibri" pitchFamily="34" charset="-120"/>
              </a:rPr>
              <a:t>Bring-your-own-numbers only; native maps need block-group data</a:t>
            </a:r>
            <a:endParaRPr lang="en-US" sz="1250" dirty="0"/>
          </a:p>
        </p:txBody>
      </p:sp>
      <p:sp>
        <p:nvSpPr>
          <p:cNvPr id="26" name="Text 20"/>
          <p:cNvSpPr/>
          <p:nvPr/>
        </p:nvSpPr>
        <p:spPr>
          <a:xfrm>
            <a:off x="548640" y="6355080"/>
            <a:ext cx="11091672" cy="27432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Sources: Petterson et al., Health Affairs 2023; CDC/ATSDR SVI 2022 documentation; AASHTO CTPP Key Considerations 2017-2021; HUD CHAS documentation; EPA EJScreen technical documentation; NNIP.</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Journalists: high reach, thin evidence</a:t>
            </a:r>
            <a:endParaRPr lang="en-US" sz="3000" dirty="0"/>
          </a:p>
        </p:txBody>
      </p:sp>
      <p:sp>
        <p:nvSpPr>
          <p:cNvPr id="3" name="Text 1"/>
          <p:cNvSpPr/>
          <p:nvPr/>
        </p:nvSpPr>
        <p:spPr>
          <a:xfrm>
            <a:off x="548640" y="1078992"/>
            <a:ext cx="11091672" cy="457200"/>
          </a:xfrm>
          <a:prstGeom prst="rect">
            <a:avLst/>
          </a:prstGeom>
          <a:noFill/>
          <a:ln/>
        </p:spPr>
        <p:txBody>
          <a:bodyPr wrap="square" lIns="0" tIns="0" rIns="0" bIns="0" rtlCol="0" anchor="ctr"/>
          <a:lstStyle/>
          <a:p>
            <a:pPr indent="0" marL="0">
              <a:buNone/>
            </a:pPr>
            <a:r>
              <a:rPr lang="en-US" sz="1500" i="1" dirty="0">
                <a:solidFill>
                  <a:srgbClr val="5A6478"/>
                </a:solidFill>
                <a:latin typeface="Calibri" pitchFamily="34" charset="0"/>
                <a:ea typeface="Calibri" pitchFamily="34" charset="-122"/>
                <a:cs typeface="Calibri" pitchFamily="34" charset="-120"/>
              </a:rPr>
              <a:t>County and place are their default geographies. Nobody has measured whether they report margins.</a:t>
            </a:r>
            <a:endParaRPr lang="en-US" sz="1500" dirty="0"/>
          </a:p>
        </p:txBody>
      </p:sp>
      <p:sp>
        <p:nvSpPr>
          <p:cNvPr id="4" name="Shape 2"/>
          <p:cNvSpPr/>
          <p:nvPr/>
        </p:nvSpPr>
        <p:spPr>
          <a:xfrm>
            <a:off x="10177272" y="502920"/>
            <a:ext cx="1463040" cy="274320"/>
          </a:xfrm>
          <a:prstGeom prst="roundRect">
            <a:avLst>
              <a:gd name="adj" fmla="val 50000"/>
            </a:avLst>
          </a:prstGeom>
          <a:solidFill>
            <a:srgbClr val="E8E8E8"/>
          </a:solidFill>
          <a:ln w="12700">
            <a:solidFill>
              <a:srgbClr val="E8E8E8"/>
            </a:solidFill>
            <a:prstDash val="solid"/>
          </a:ln>
        </p:spPr>
      </p:sp>
      <p:sp>
        <p:nvSpPr>
          <p:cNvPr id="5" name="Text 3"/>
          <p:cNvSpPr/>
          <p:nvPr/>
        </p:nvSpPr>
        <p:spPr>
          <a:xfrm>
            <a:off x="10177272" y="502920"/>
            <a:ext cx="1463040" cy="274320"/>
          </a:xfrm>
          <a:prstGeom prst="rect">
            <a:avLst/>
          </a:prstGeom>
          <a:noFill/>
          <a:ln/>
        </p:spPr>
        <p:txBody>
          <a:bodyPr wrap="square" lIns="0" tIns="0" rIns="0" bIns="0" rtlCol="0" anchor="ctr"/>
          <a:lstStyle/>
          <a:p>
            <a:pPr algn="ctr" indent="0" marL="0">
              <a:buNone/>
            </a:pPr>
            <a:r>
              <a:rPr lang="en-US" sz="1000" b="1" dirty="0">
                <a:solidFill>
                  <a:srgbClr val="24304A"/>
                </a:solidFill>
                <a:latin typeface="Calibri" pitchFamily="34" charset="0"/>
                <a:ea typeface="Calibri" pitchFamily="34" charset="-122"/>
                <a:cs typeface="Calibri" pitchFamily="34" charset="-120"/>
              </a:rPr>
              <a:t>Tier open</a:t>
            </a:r>
            <a:endParaRPr lang="en-US" sz="1000" dirty="0"/>
          </a:p>
        </p:txBody>
      </p:sp>
      <p:sp>
        <p:nvSpPr>
          <p:cNvPr id="6" name="Shape 4"/>
          <p:cNvSpPr/>
          <p:nvPr/>
        </p:nvSpPr>
        <p:spPr>
          <a:xfrm>
            <a:off x="548640" y="1691640"/>
            <a:ext cx="3514344" cy="4114800"/>
          </a:xfrm>
          <a:prstGeom prst="rect">
            <a:avLst/>
          </a:prstGeom>
          <a:solidFill>
            <a:srgbClr val="EEF1F8"/>
          </a:solidFill>
          <a:ln w="12700">
            <a:solidFill>
              <a:srgbClr val="DDE3EF"/>
            </a:solidFill>
            <a:prstDash val="solid"/>
          </a:ln>
        </p:spPr>
      </p:sp>
      <p:sp>
        <p:nvSpPr>
          <p:cNvPr id="7" name="Text 5"/>
          <p:cNvSpPr/>
          <p:nvPr/>
        </p:nvSpPr>
        <p:spPr>
          <a:xfrm>
            <a:off x="822960" y="1874520"/>
            <a:ext cx="2965704" cy="4114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What is documented</a:t>
            </a:r>
            <a:endParaRPr lang="en-US" sz="1700" dirty="0"/>
          </a:p>
        </p:txBody>
      </p:sp>
      <p:sp>
        <p:nvSpPr>
          <p:cNvPr id="8" name="Text 6"/>
          <p:cNvSpPr/>
          <p:nvPr/>
        </p:nvSpPr>
        <p:spPr>
          <a:xfrm>
            <a:off x="822960" y="2377440"/>
            <a:ext cx="2965704" cy="32918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4304A"/>
                </a:solidFill>
                <a:latin typeface="Calibri" pitchFamily="34" charset="0"/>
                <a:ea typeface="Calibri" pitchFamily="34" charset="-122"/>
                <a:cs typeface="Calibri" pitchFamily="34" charset="-120"/>
              </a:rPr>
              <a:t>Census and Brookings both wrote ACS guides for journalists with full MOE chapters</a:t>
            </a:r>
            <a:endParaRPr lang="en-US" sz="1250" dirty="0"/>
          </a:p>
          <a:p>
            <a:pPr marL="342900" indent="-342900">
              <a:spcAft>
                <a:spcPts val="800"/>
              </a:spcAft>
              <a:buSzPct val="100000"/>
              <a:buChar char="•"/>
            </a:pPr>
            <a:r>
              <a:rPr lang="en-US" sz="1250" dirty="0">
                <a:solidFill>
                  <a:srgbClr val="24304A"/>
                </a:solidFill>
                <a:latin typeface="Calibri" pitchFamily="34" charset="0"/>
                <a:ea typeface="Calibri" pitchFamily="34" charset="-122"/>
                <a:cs typeface="Calibri" pitchFamily="34" charset="-120"/>
              </a:rPr>
              <a:t>Census Reporter, built for newsrooms, flags estimates where the margin requires extra care</a:t>
            </a:r>
            <a:endParaRPr lang="en-US" sz="1250" dirty="0"/>
          </a:p>
          <a:p>
            <a:pPr marL="342900" indent="-342900">
              <a:spcAft>
                <a:spcPts val="800"/>
              </a:spcAft>
              <a:buSzPct val="100000"/>
              <a:buChar char="•"/>
            </a:pPr>
            <a:r>
              <a:rPr lang="en-US" sz="1250" dirty="0">
                <a:solidFill>
                  <a:srgbClr val="24304A"/>
                </a:solidFill>
                <a:latin typeface="Calibri" pitchFamily="34" charset="0"/>
                <a:ea typeface="Calibri" pitchFamily="34" charset="-122"/>
                <a:cs typeface="Calibri" pitchFamily="34" charset="-120"/>
              </a:rPr>
              <a:t>The Census journalist handbook gives a CV rule of thumb: 10 percent is fine, 50 percent probably is not</a:t>
            </a:r>
            <a:endParaRPr lang="en-US" sz="1250" dirty="0"/>
          </a:p>
        </p:txBody>
      </p:sp>
      <p:sp>
        <p:nvSpPr>
          <p:cNvPr id="9" name="Shape 7"/>
          <p:cNvSpPr/>
          <p:nvPr/>
        </p:nvSpPr>
        <p:spPr>
          <a:xfrm>
            <a:off x="4337304" y="1691640"/>
            <a:ext cx="3514344" cy="4114800"/>
          </a:xfrm>
          <a:prstGeom prst="rect">
            <a:avLst/>
          </a:prstGeom>
          <a:solidFill>
            <a:srgbClr val="F7F4EA"/>
          </a:solidFill>
          <a:ln w="12700">
            <a:solidFill>
              <a:srgbClr val="DDE3EF"/>
            </a:solidFill>
            <a:prstDash val="solid"/>
          </a:ln>
        </p:spPr>
      </p:sp>
      <p:sp>
        <p:nvSpPr>
          <p:cNvPr id="10" name="Text 8"/>
          <p:cNvSpPr/>
          <p:nvPr/>
        </p:nvSpPr>
        <p:spPr>
          <a:xfrm>
            <a:off x="4611624" y="1874520"/>
            <a:ext cx="2965704" cy="4114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What is not</a:t>
            </a:r>
            <a:endParaRPr lang="en-US" sz="1700" dirty="0"/>
          </a:p>
        </p:txBody>
      </p:sp>
      <p:sp>
        <p:nvSpPr>
          <p:cNvPr id="11" name="Text 9"/>
          <p:cNvSpPr/>
          <p:nvPr/>
        </p:nvSpPr>
        <p:spPr>
          <a:xfrm>
            <a:off x="4611624" y="2377440"/>
            <a:ext cx="2965704" cy="32918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4304A"/>
                </a:solidFill>
                <a:latin typeface="Calibri" pitchFamily="34" charset="0"/>
                <a:ea typeface="Calibri" pitchFamily="34" charset="-122"/>
                <a:cs typeface="Calibri" pitchFamily="34" charset="-120"/>
              </a:rPr>
              <a:t>No content analysis of whether newsrooms actually report ACS margins was located in either research pass</a:t>
            </a:r>
            <a:endParaRPr lang="en-US" sz="1250" dirty="0"/>
          </a:p>
          <a:p>
            <a:pPr marL="342900" indent="-342900">
              <a:spcAft>
                <a:spcPts val="800"/>
              </a:spcAft>
              <a:buSzPct val="100000"/>
              <a:buChar char="•"/>
            </a:pPr>
            <a:r>
              <a:rPr lang="en-US" sz="1250" dirty="0">
                <a:solidFill>
                  <a:srgbClr val="24304A"/>
                </a:solidFill>
                <a:latin typeface="Calibri" pitchFamily="34" charset="0"/>
                <a:ea typeface="Calibri" pitchFamily="34" charset="-122"/>
                <a:cs typeface="Calibri" pitchFamily="34" charset="-120"/>
              </a:rPr>
              <a:t>No measurement of Census Reporter's reach into published stories</a:t>
            </a:r>
            <a:endParaRPr lang="en-US" sz="1250" dirty="0"/>
          </a:p>
          <a:p>
            <a:pPr marL="342900" indent="-342900">
              <a:spcAft>
                <a:spcPts val="800"/>
              </a:spcAft>
              <a:buSzPct val="100000"/>
              <a:buChar char="•"/>
            </a:pPr>
            <a:r>
              <a:rPr lang="en-US" sz="1250" dirty="0">
                <a:solidFill>
                  <a:srgbClr val="24304A"/>
                </a:solidFill>
                <a:latin typeface="Calibri" pitchFamily="34" charset="0"/>
                <a:ea typeface="Calibri" pitchFamily="34" charset="-122"/>
                <a:cs typeface="Calibri" pitchFamily="34" charset="-120"/>
              </a:rPr>
              <a:t>The need is inferred from the existence of guidance, not from observed practice</a:t>
            </a:r>
            <a:endParaRPr lang="en-US" sz="1250" dirty="0"/>
          </a:p>
        </p:txBody>
      </p:sp>
      <p:sp>
        <p:nvSpPr>
          <p:cNvPr id="12" name="Shape 10"/>
          <p:cNvSpPr/>
          <p:nvPr/>
        </p:nvSpPr>
        <p:spPr>
          <a:xfrm>
            <a:off x="8125968" y="1691640"/>
            <a:ext cx="3514344" cy="4114800"/>
          </a:xfrm>
          <a:prstGeom prst="rect">
            <a:avLst/>
          </a:prstGeom>
          <a:solidFill>
            <a:srgbClr val="F3F5FA"/>
          </a:solidFill>
          <a:ln w="12700">
            <a:solidFill>
              <a:srgbClr val="DDE3EF"/>
            </a:solidFill>
            <a:prstDash val="solid"/>
          </a:ln>
        </p:spPr>
      </p:sp>
      <p:sp>
        <p:nvSpPr>
          <p:cNvPr id="13" name="Text 11"/>
          <p:cNvSpPr/>
          <p:nvPr/>
        </p:nvSpPr>
        <p:spPr>
          <a:xfrm>
            <a:off x="8400288" y="1874520"/>
            <a:ext cx="2965704" cy="4114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What would settle it</a:t>
            </a:r>
            <a:endParaRPr lang="en-US" sz="1700" dirty="0"/>
          </a:p>
        </p:txBody>
      </p:sp>
      <p:sp>
        <p:nvSpPr>
          <p:cNvPr id="14" name="Text 12"/>
          <p:cNvSpPr/>
          <p:nvPr/>
        </p:nvSpPr>
        <p:spPr>
          <a:xfrm>
            <a:off x="8400288" y="2377440"/>
            <a:ext cx="2965704" cy="32918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4304A"/>
                </a:solidFill>
                <a:latin typeface="Calibri" pitchFamily="34" charset="0"/>
                <a:ea typeface="Calibri" pitchFamily="34" charset="-122"/>
                <a:cs typeface="Calibri" pitchFamily="34" charset="-120"/>
              </a:rPr>
              <a:t>Sample 150 to 200 local stories citing ACS county figures over 24 months</a:t>
            </a:r>
            <a:endParaRPr lang="en-US" sz="1250" dirty="0"/>
          </a:p>
          <a:p>
            <a:pPr marL="342900" indent="-342900">
              <a:spcAft>
                <a:spcPts val="800"/>
              </a:spcAft>
              <a:buSzPct val="100000"/>
              <a:buChar char="•"/>
            </a:pPr>
            <a:r>
              <a:rPr lang="en-US" sz="1250" dirty="0">
                <a:solidFill>
                  <a:srgbClr val="24304A"/>
                </a:solidFill>
                <a:latin typeface="Calibri" pitchFamily="34" charset="0"/>
                <a:ea typeface="Calibri" pitchFamily="34" charset="-122"/>
                <a:cs typeface="Calibri" pitchFamily="34" charset="-120"/>
              </a:rPr>
              <a:t>Code each for: MOE mentioned, reliability language present, comparison made without a test</a:t>
            </a:r>
            <a:endParaRPr lang="en-US" sz="1250" dirty="0"/>
          </a:p>
          <a:p>
            <a:pPr marL="342900" indent="-342900">
              <a:spcAft>
                <a:spcPts val="800"/>
              </a:spcAft>
              <a:buSzPct val="100000"/>
              <a:buChar char="•"/>
            </a:pPr>
            <a:r>
              <a:rPr lang="en-US" sz="1250" dirty="0">
                <a:solidFill>
                  <a:srgbClr val="24304A"/>
                </a:solidFill>
                <a:latin typeface="Calibri" pitchFamily="34" charset="0"/>
                <a:ea typeface="Calibri" pitchFamily="34" charset="-122"/>
                <a:cs typeface="Calibri" pitchFamily="34" charset="-120"/>
              </a:rPr>
              <a:t>Two coders, a double-coded subset, Krippendorff's alpha. Two weeks of work</a:t>
            </a:r>
            <a:endParaRPr lang="en-US" sz="1250" dirty="0"/>
          </a:p>
        </p:txBody>
      </p:sp>
      <p:sp>
        <p:nvSpPr>
          <p:cNvPr id="15" name="Text 13"/>
          <p:cNvSpPr/>
          <p:nvPr/>
        </p:nvSpPr>
        <p:spPr>
          <a:xfrm>
            <a:off x="548640" y="6355080"/>
            <a:ext cx="11091672" cy="27432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Recommendation on record: build journalist-specific features second, after the content analysis says whether they would be used.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Four needs cover everyone</a:t>
            </a:r>
            <a:endParaRPr lang="en-US" sz="3000" dirty="0"/>
          </a:p>
        </p:txBody>
      </p:sp>
      <p:sp>
        <p:nvSpPr>
          <p:cNvPr id="3" name="Text 1"/>
          <p:cNvSpPr/>
          <p:nvPr/>
        </p:nvSpPr>
        <p:spPr>
          <a:xfrm>
            <a:off x="548640" y="1078992"/>
            <a:ext cx="11091672" cy="457200"/>
          </a:xfrm>
          <a:prstGeom prst="rect">
            <a:avLst/>
          </a:prstGeom>
          <a:noFill/>
          <a:ln/>
        </p:spPr>
        <p:txBody>
          <a:bodyPr wrap="square" lIns="0" tIns="0" rIns="0" bIns="0" rtlCol="0" anchor="ctr"/>
          <a:lstStyle/>
          <a:p>
            <a:pPr indent="0" marL="0">
              <a:buNone/>
            </a:pPr>
            <a:r>
              <a:rPr lang="en-US" sz="1500" i="1" dirty="0">
                <a:solidFill>
                  <a:srgbClr val="C9D1E6"/>
                </a:solidFill>
                <a:latin typeface="Calibri" pitchFamily="34" charset="0"/>
                <a:ea typeface="Calibri" pitchFamily="34" charset="-122"/>
                <a:cs typeface="Calibri" pitchFamily="34" charset="-120"/>
              </a:rPr>
              <a:t>The same four came out of both research passes. Two more are segment-specific.</a:t>
            </a:r>
            <a:endParaRPr lang="en-US" sz="1500" dirty="0"/>
          </a:p>
        </p:txBody>
      </p:sp>
      <p:sp>
        <p:nvSpPr>
          <p:cNvPr id="4" name="Shape 2"/>
          <p:cNvSpPr/>
          <p:nvPr/>
        </p:nvSpPr>
        <p:spPr>
          <a:xfrm>
            <a:off x="548640" y="1737360"/>
            <a:ext cx="2567178" cy="3063240"/>
          </a:xfrm>
          <a:prstGeom prst="rect">
            <a:avLst/>
          </a:prstGeom>
          <a:solidFill>
            <a:srgbClr val="141B3D"/>
          </a:solidFill>
          <a:ln w="12700">
            <a:solidFill>
              <a:srgbClr val="141B3D"/>
            </a:solidFill>
            <a:prstDash val="solid"/>
          </a:ln>
        </p:spPr>
      </p:sp>
      <p:sp>
        <p:nvSpPr>
          <p:cNvPr id="5" name="Shape 3"/>
          <p:cNvSpPr/>
          <p:nvPr/>
        </p:nvSpPr>
        <p:spPr>
          <a:xfrm>
            <a:off x="777240" y="1965960"/>
            <a:ext cx="594360" cy="594360"/>
          </a:xfrm>
          <a:prstGeom prst="ellipse">
            <a:avLst/>
          </a:prstGeom>
          <a:solidFill>
            <a:srgbClr val="C8A951"/>
          </a:solidFill>
          <a:ln w="12700">
            <a:solidFill>
              <a:srgbClr val="C8A951"/>
            </a:solidFill>
            <a:prstDash val="solid"/>
          </a:ln>
        </p:spPr>
      </p:sp>
      <p:pic>
        <p:nvPicPr>
          <p:cNvPr id="6" name="Image 0" descr="preencoded.png">    </p:cNvPr>
          <p:cNvPicPr>
            <a:picLocks noChangeAspect="1"/>
          </p:cNvPicPr>
          <p:nvPr/>
        </p:nvPicPr>
        <p:blipFill>
          <a:blip r:embed="rId1"/>
          <a:stretch>
            <a:fillRect/>
          </a:stretch>
        </p:blipFill>
        <p:spPr>
          <a:xfrm>
            <a:off x="919886" y="2108606"/>
            <a:ext cx="309067" cy="309067"/>
          </a:xfrm>
          <a:prstGeom prst="rect">
            <a:avLst/>
          </a:prstGeom>
        </p:spPr>
      </p:pic>
      <p:sp>
        <p:nvSpPr>
          <p:cNvPr id="7" name="Text 4"/>
          <p:cNvSpPr/>
          <p:nvPr/>
        </p:nvSpPr>
        <p:spPr>
          <a:xfrm>
            <a:off x="777240" y="2697480"/>
            <a:ext cx="2109978" cy="73152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Is this number solid enough to use?</a:t>
            </a:r>
            <a:endParaRPr lang="en-US" sz="1500" dirty="0"/>
          </a:p>
        </p:txBody>
      </p:sp>
      <p:sp>
        <p:nvSpPr>
          <p:cNvPr id="8" name="Text 5"/>
          <p:cNvSpPr/>
          <p:nvPr/>
        </p:nvSpPr>
        <p:spPr>
          <a:xfrm>
            <a:off x="777240" y="3474720"/>
            <a:ext cx="2109978" cy="1280160"/>
          </a:xfrm>
          <a:prstGeom prst="rect">
            <a:avLst/>
          </a:prstGeom>
          <a:noFill/>
          <a:ln/>
        </p:spPr>
        <p:txBody>
          <a:bodyPr wrap="square" lIns="0" tIns="0" rIns="0" bIns="0" rtlCol="0" anchor="t"/>
          <a:lstStyle/>
          <a:p>
            <a:pPr indent="0" marL="0">
              <a:buNone/>
            </a:pPr>
            <a:r>
              <a:rPr lang="en-US" sz="1150" dirty="0">
                <a:solidFill>
                  <a:srgbClr val="C9D1E6"/>
                </a:solidFill>
                <a:latin typeface="Calibri" pitchFamily="34" charset="0"/>
                <a:ea typeface="Calibri" pitchFamily="34" charset="-122"/>
                <a:cs typeface="Calibri" pitchFamily="34" charset="-120"/>
              </a:rPr>
              <a:t>The estimate, its margin, its CV, and a plain label. Universal, and the only need every guide already tries to meet.</a:t>
            </a:r>
            <a:endParaRPr lang="en-US" sz="1150" dirty="0"/>
          </a:p>
        </p:txBody>
      </p:sp>
      <p:sp>
        <p:nvSpPr>
          <p:cNvPr id="9" name="Shape 6"/>
          <p:cNvSpPr/>
          <p:nvPr/>
        </p:nvSpPr>
        <p:spPr>
          <a:xfrm>
            <a:off x="3390138" y="1737360"/>
            <a:ext cx="2567178" cy="3063240"/>
          </a:xfrm>
          <a:prstGeom prst="rect">
            <a:avLst/>
          </a:prstGeom>
          <a:solidFill>
            <a:srgbClr val="141B3D"/>
          </a:solidFill>
          <a:ln w="12700">
            <a:solidFill>
              <a:srgbClr val="141B3D"/>
            </a:solidFill>
            <a:prstDash val="solid"/>
          </a:ln>
        </p:spPr>
      </p:sp>
      <p:sp>
        <p:nvSpPr>
          <p:cNvPr id="10" name="Shape 7"/>
          <p:cNvSpPr/>
          <p:nvPr/>
        </p:nvSpPr>
        <p:spPr>
          <a:xfrm>
            <a:off x="3618738" y="1965960"/>
            <a:ext cx="594360" cy="594360"/>
          </a:xfrm>
          <a:prstGeom prst="ellipse">
            <a:avLst/>
          </a:prstGeom>
          <a:solidFill>
            <a:srgbClr val="C8A951"/>
          </a:solidFill>
          <a:ln w="12700">
            <a:solidFill>
              <a:srgbClr val="C8A951"/>
            </a:solidFill>
            <a:prstDash val="solid"/>
          </a:ln>
        </p:spPr>
      </p:sp>
      <p:pic>
        <p:nvPicPr>
          <p:cNvPr id="11" name="Image 1" descr="preencoded.png">    </p:cNvPr>
          <p:cNvPicPr>
            <a:picLocks noChangeAspect="1"/>
          </p:cNvPicPr>
          <p:nvPr/>
        </p:nvPicPr>
        <p:blipFill>
          <a:blip r:embed="rId2"/>
          <a:stretch>
            <a:fillRect/>
          </a:stretch>
        </p:blipFill>
        <p:spPr>
          <a:xfrm>
            <a:off x="3761384" y="2108606"/>
            <a:ext cx="309067" cy="309067"/>
          </a:xfrm>
          <a:prstGeom prst="rect">
            <a:avLst/>
          </a:prstGeom>
        </p:spPr>
      </p:pic>
      <p:sp>
        <p:nvSpPr>
          <p:cNvPr id="12" name="Text 8"/>
          <p:cNvSpPr/>
          <p:nvPr/>
        </p:nvSpPr>
        <p:spPr>
          <a:xfrm>
            <a:off x="3618738" y="2697480"/>
            <a:ext cx="2109978" cy="73152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Is this difference real?</a:t>
            </a:r>
            <a:endParaRPr lang="en-US" sz="1500" dirty="0"/>
          </a:p>
        </p:txBody>
      </p:sp>
      <p:sp>
        <p:nvSpPr>
          <p:cNvPr id="13" name="Text 9"/>
          <p:cNvSpPr/>
          <p:nvPr/>
        </p:nvSpPr>
        <p:spPr>
          <a:xfrm>
            <a:off x="3618738" y="3474720"/>
            <a:ext cx="2109978" cy="1280160"/>
          </a:xfrm>
          <a:prstGeom prst="rect">
            <a:avLst/>
          </a:prstGeom>
          <a:noFill/>
          <a:ln/>
        </p:spPr>
        <p:txBody>
          <a:bodyPr wrap="square" lIns="0" tIns="0" rIns="0" bIns="0" rtlCol="0" anchor="t"/>
          <a:lstStyle/>
          <a:p>
            <a:pPr indent="0" marL="0">
              <a:buNone/>
            </a:pPr>
            <a:r>
              <a:rPr lang="en-US" sz="1150" dirty="0">
                <a:solidFill>
                  <a:srgbClr val="C9D1E6"/>
                </a:solidFill>
                <a:latin typeface="Calibri" pitchFamily="34" charset="0"/>
                <a:ea typeface="Calibri" pitchFamily="34" charset="-122"/>
                <a:cs typeface="Calibri" pitchFamily="34" charset="-120"/>
              </a:rPr>
              <a:t>Between two places or two years, with the overlapping-window rule stated first. The Census rule is explicit; no consumer tool automates it.</a:t>
            </a:r>
            <a:endParaRPr lang="en-US" sz="1150" dirty="0"/>
          </a:p>
        </p:txBody>
      </p:sp>
      <p:sp>
        <p:nvSpPr>
          <p:cNvPr id="14" name="Shape 10"/>
          <p:cNvSpPr/>
          <p:nvPr/>
        </p:nvSpPr>
        <p:spPr>
          <a:xfrm>
            <a:off x="6231636" y="1737360"/>
            <a:ext cx="2567178" cy="3063240"/>
          </a:xfrm>
          <a:prstGeom prst="rect">
            <a:avLst/>
          </a:prstGeom>
          <a:solidFill>
            <a:srgbClr val="141B3D"/>
          </a:solidFill>
          <a:ln w="12700">
            <a:solidFill>
              <a:srgbClr val="141B3D"/>
            </a:solidFill>
            <a:prstDash val="solid"/>
          </a:ln>
        </p:spPr>
      </p:sp>
      <p:sp>
        <p:nvSpPr>
          <p:cNvPr id="15" name="Shape 11"/>
          <p:cNvSpPr/>
          <p:nvPr/>
        </p:nvSpPr>
        <p:spPr>
          <a:xfrm>
            <a:off x="6460236" y="1965960"/>
            <a:ext cx="594360" cy="594360"/>
          </a:xfrm>
          <a:prstGeom prst="ellipse">
            <a:avLst/>
          </a:prstGeom>
          <a:solidFill>
            <a:srgbClr val="C8A951"/>
          </a:solidFill>
          <a:ln w="12700">
            <a:solidFill>
              <a:srgbClr val="C8A951"/>
            </a:solidFill>
            <a:prstDash val="solid"/>
          </a:ln>
        </p:spPr>
      </p:sp>
      <p:pic>
        <p:nvPicPr>
          <p:cNvPr id="16" name="Image 2" descr="preencoded.png">    </p:cNvPr>
          <p:cNvPicPr>
            <a:picLocks noChangeAspect="1"/>
          </p:cNvPicPr>
          <p:nvPr/>
        </p:nvPicPr>
        <p:blipFill>
          <a:blip r:embed="rId3"/>
          <a:stretch>
            <a:fillRect/>
          </a:stretch>
        </p:blipFill>
        <p:spPr>
          <a:xfrm>
            <a:off x="6602882" y="2108606"/>
            <a:ext cx="309067" cy="309067"/>
          </a:xfrm>
          <a:prstGeom prst="rect">
            <a:avLst/>
          </a:prstGeom>
        </p:spPr>
      </p:pic>
      <p:sp>
        <p:nvSpPr>
          <p:cNvPr id="17" name="Text 12"/>
          <p:cNvSpPr/>
          <p:nvPr/>
        </p:nvSpPr>
        <p:spPr>
          <a:xfrm>
            <a:off x="6460236" y="2697480"/>
            <a:ext cx="2109978" cy="73152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What did my own arithmetic do to the error?</a:t>
            </a:r>
            <a:endParaRPr lang="en-US" sz="1500" dirty="0"/>
          </a:p>
        </p:txBody>
      </p:sp>
      <p:sp>
        <p:nvSpPr>
          <p:cNvPr id="18" name="Text 13"/>
          <p:cNvSpPr/>
          <p:nvPr/>
        </p:nvSpPr>
        <p:spPr>
          <a:xfrm>
            <a:off x="6460236" y="3474720"/>
            <a:ext cx="2109978" cy="1280160"/>
          </a:xfrm>
          <a:prstGeom prst="rect">
            <a:avLst/>
          </a:prstGeom>
          <a:noFill/>
          <a:ln/>
        </p:spPr>
        <p:txBody>
          <a:bodyPr wrap="square" lIns="0" tIns="0" rIns="0" bIns="0" rtlCol="0" anchor="t"/>
          <a:lstStyle/>
          <a:p>
            <a:pPr indent="0" marL="0">
              <a:buNone/>
            </a:pPr>
            <a:r>
              <a:rPr lang="en-US" sz="1150" dirty="0">
                <a:solidFill>
                  <a:srgbClr val="C9D1E6"/>
                </a:solidFill>
                <a:latin typeface="Calibri" pitchFamily="34" charset="0"/>
                <a:ea typeface="Calibri" pitchFamily="34" charset="-122"/>
                <a:cs typeface="Calibri" pitchFamily="34" charset="-120"/>
              </a:rPr>
              <a:t>Rates, shares, sums, differences. Anyone who computes anything from two published cells has created error the Bureau never published.</a:t>
            </a:r>
            <a:endParaRPr lang="en-US" sz="1150" dirty="0"/>
          </a:p>
        </p:txBody>
      </p:sp>
      <p:sp>
        <p:nvSpPr>
          <p:cNvPr id="19" name="Shape 14"/>
          <p:cNvSpPr/>
          <p:nvPr/>
        </p:nvSpPr>
        <p:spPr>
          <a:xfrm>
            <a:off x="9073134" y="1737360"/>
            <a:ext cx="2567178" cy="3063240"/>
          </a:xfrm>
          <a:prstGeom prst="rect">
            <a:avLst/>
          </a:prstGeom>
          <a:solidFill>
            <a:srgbClr val="141B3D"/>
          </a:solidFill>
          <a:ln w="12700">
            <a:solidFill>
              <a:srgbClr val="141B3D"/>
            </a:solidFill>
            <a:prstDash val="solid"/>
          </a:ln>
        </p:spPr>
      </p:sp>
      <p:sp>
        <p:nvSpPr>
          <p:cNvPr id="20" name="Shape 15"/>
          <p:cNvSpPr/>
          <p:nvPr/>
        </p:nvSpPr>
        <p:spPr>
          <a:xfrm>
            <a:off x="9301734" y="1965960"/>
            <a:ext cx="594360" cy="594360"/>
          </a:xfrm>
          <a:prstGeom prst="ellipse">
            <a:avLst/>
          </a:prstGeom>
          <a:solidFill>
            <a:srgbClr val="C8A951"/>
          </a:solidFill>
          <a:ln w="12700">
            <a:solidFill>
              <a:srgbClr val="C8A951"/>
            </a:solidFill>
            <a:prstDash val="solid"/>
          </a:ln>
        </p:spPr>
      </p:sp>
      <p:pic>
        <p:nvPicPr>
          <p:cNvPr id="21" name="Image 3" descr="preencoded.png">    </p:cNvPr>
          <p:cNvPicPr>
            <a:picLocks noChangeAspect="1"/>
          </p:cNvPicPr>
          <p:nvPr/>
        </p:nvPicPr>
        <p:blipFill>
          <a:blip r:embed="rId4"/>
          <a:stretch>
            <a:fillRect/>
          </a:stretch>
        </p:blipFill>
        <p:spPr>
          <a:xfrm>
            <a:off x="9444380" y="2108606"/>
            <a:ext cx="309067" cy="309067"/>
          </a:xfrm>
          <a:prstGeom prst="rect">
            <a:avLst/>
          </a:prstGeom>
        </p:spPr>
      </p:pic>
      <p:sp>
        <p:nvSpPr>
          <p:cNvPr id="22" name="Text 16"/>
          <p:cNvSpPr/>
          <p:nvPr/>
        </p:nvSpPr>
        <p:spPr>
          <a:xfrm>
            <a:off x="9301734" y="2697480"/>
            <a:ext cx="2109978" cy="73152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Where does this stop working?</a:t>
            </a:r>
            <a:endParaRPr lang="en-US" sz="1500" dirty="0"/>
          </a:p>
        </p:txBody>
      </p:sp>
      <p:sp>
        <p:nvSpPr>
          <p:cNvPr id="23" name="Text 17"/>
          <p:cNvSpPr/>
          <p:nvPr/>
        </p:nvSpPr>
        <p:spPr>
          <a:xfrm>
            <a:off x="9301734" y="3474720"/>
            <a:ext cx="2109978" cy="1280160"/>
          </a:xfrm>
          <a:prstGeom prst="rect">
            <a:avLst/>
          </a:prstGeom>
          <a:noFill/>
          <a:ln/>
        </p:spPr>
        <p:txBody>
          <a:bodyPr wrap="square" lIns="0" tIns="0" rIns="0" bIns="0" rtlCol="0" anchor="t"/>
          <a:lstStyle/>
          <a:p>
            <a:pPr indent="0" marL="0">
              <a:buNone/>
            </a:pPr>
            <a:r>
              <a:rPr lang="en-US" sz="1150" dirty="0">
                <a:solidFill>
                  <a:srgbClr val="C9D1E6"/>
                </a:solidFill>
                <a:latin typeface="Calibri" pitchFamily="34" charset="0"/>
                <a:ea typeface="Calibri" pitchFamily="34" charset="-122"/>
                <a:cs typeface="Calibri" pitchFamily="34" charset="-120"/>
              </a:rPr>
              <a:t>Below county, in small counties, and in anything the user aggregated. The honest statement that makes county-only defensible.</a:t>
            </a:r>
            <a:endParaRPr lang="en-US" sz="1150" dirty="0"/>
          </a:p>
        </p:txBody>
      </p:sp>
      <p:sp>
        <p:nvSpPr>
          <p:cNvPr id="24" name="Shape 18"/>
          <p:cNvSpPr/>
          <p:nvPr/>
        </p:nvSpPr>
        <p:spPr>
          <a:xfrm>
            <a:off x="548640" y="5029200"/>
            <a:ext cx="11091672" cy="1051560"/>
          </a:xfrm>
          <a:prstGeom prst="rect">
            <a:avLst/>
          </a:prstGeom>
          <a:solidFill>
            <a:srgbClr val="2A3660"/>
          </a:solidFill>
          <a:ln w="12700">
            <a:solidFill>
              <a:srgbClr val="2A3660"/>
            </a:solidFill>
            <a:prstDash val="solid"/>
          </a:ln>
        </p:spPr>
      </p:sp>
      <p:sp>
        <p:nvSpPr>
          <p:cNvPr id="25" name="Text 19"/>
          <p:cNvSpPr/>
          <p:nvPr/>
        </p:nvSpPr>
        <p:spPr>
          <a:xfrm>
            <a:off x="822960" y="5074920"/>
            <a:ext cx="10543032" cy="960120"/>
          </a:xfrm>
          <a:prstGeom prst="rect">
            <a:avLst/>
          </a:prstGeom>
          <a:noFill/>
          <a:ln/>
        </p:spPr>
        <p:txBody>
          <a:bodyPr wrap="square" lIns="0" tIns="0" rIns="0" bIns="0" rtlCol="0" anchor="ctr"/>
          <a:lstStyle/>
          <a:p>
            <a:pPr indent="0" marL="0">
              <a:buNone/>
            </a:pPr>
            <a:r>
              <a:rPr lang="en-US" sz="1250" b="1" dirty="0">
                <a:solidFill>
                  <a:srgbClr val="C8A951"/>
                </a:solidFill>
                <a:latin typeface="Calibri" pitchFamily="34" charset="0"/>
                <a:ea typeface="Calibri" pitchFamily="34" charset="-122"/>
                <a:cs typeface="Calibri" pitchFamily="34" charset="-120"/>
              </a:rPr>
              <a:t>Segment-specific.  </a:t>
            </a:r>
            <a:pPr indent="0" marL="0">
              <a:buNone/>
            </a:pPr>
            <a:r>
              <a:rPr lang="en-US" sz="1250" b="1" dirty="0">
                <a:solidFill>
                  <a:srgbClr val="FFFFFF"/>
                </a:solidFill>
                <a:latin typeface="Calibri" pitchFamily="34" charset="0"/>
                <a:ea typeface="Calibri" pitchFamily="34" charset="-122"/>
                <a:cs typeface="Calibri" pitchFamily="34" charset="-120"/>
              </a:rPr>
              <a:t>Program staff and small counties: </a:t>
            </a:r>
            <a:pPr indent="0" marL="0">
              <a:buNone/>
            </a:pPr>
            <a:r>
              <a:rPr lang="en-US" sz="1250" dirty="0">
                <a:solidFill>
                  <a:srgbClr val="C9D1E6"/>
                </a:solidFill>
                <a:latin typeface="Calibri" pitchFamily="34" charset="0"/>
                <a:ea typeface="Calibri" pitchFamily="34" charset="-122"/>
                <a:cs typeface="Calibri" pitchFamily="34" charset="-120"/>
              </a:rPr>
              <a:t>does the interval cross my cutoff.   </a:t>
            </a:r>
            <a:pPr indent="0" marL="0">
              <a:buNone/>
            </a:pPr>
            <a:r>
              <a:rPr lang="en-US" sz="1250" b="1" dirty="0">
                <a:solidFill>
                  <a:srgbClr val="FFFFFF"/>
                </a:solidFill>
                <a:latin typeface="Calibri" pitchFamily="34" charset="0"/>
                <a:ea typeface="Calibri" pitchFamily="34" charset="-122"/>
                <a:cs typeface="Calibri" pitchFamily="34" charset="-120"/>
              </a:rPr>
              <a:t>Academics and health-index builders: </a:t>
            </a:r>
            <a:pPr indent="0" marL="0">
              <a:buNone/>
            </a:pPr>
            <a:r>
              <a:rPr lang="en-US" sz="1250" dirty="0">
                <a:solidFill>
                  <a:srgbClr val="C9D1E6"/>
                </a:solidFill>
                <a:latin typeface="Calibri" pitchFamily="34" charset="0"/>
                <a:ea typeface="Calibri" pitchFamily="34" charset="-122"/>
                <a:cs typeface="Calibri" pitchFamily="34" charset="-120"/>
              </a:rPr>
              <a:t>how much of this was imputed. That is where the team's income-allocation findings get a user.</a:t>
            </a:r>
            <a:endParaRPr lang="en-US" sz="1250" dirty="0"/>
          </a:p>
        </p:txBody>
      </p:sp>
      <p:sp>
        <p:nvSpPr>
          <p:cNvPr id="26" name="Text 20"/>
          <p:cNvSpPr/>
          <p:nvPr/>
        </p:nvSpPr>
        <p:spPr>
          <a:xfrm>
            <a:off x="548640" y="6355080"/>
            <a:ext cx="11091672" cy="274320"/>
          </a:xfrm>
          <a:prstGeom prst="rect">
            <a:avLst/>
          </a:prstGeom>
          <a:noFill/>
          <a:ln/>
        </p:spPr>
        <p:txBody>
          <a:bodyPr wrap="square" lIns="0" tIns="0" rIns="0" bIns="0" rtlCol="0" anchor="ctr"/>
          <a:lstStyle/>
          <a:p>
            <a:pPr indent="0" marL="0">
              <a:buNone/>
            </a:pPr>
            <a:r>
              <a:rPr lang="en-US" sz="950" dirty="0">
                <a:solidFill>
                  <a:srgbClr val="8F9BB8"/>
                </a:solidFill>
                <a:latin typeface="Calibri" pitchFamily="34" charset="0"/>
                <a:ea typeface="Calibri" pitchFamily="34" charset="-122"/>
                <a:cs typeface="Calibri" pitchFamily="34" charset="-120"/>
              </a:rPr>
              <a:t>Basis: Jurjevich et al. 2018; Census ACS handbooks (comparison and overlapping-period guidance); Bureau derived-estimate formulas; Spielman, Folch and Nagle 2014.</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Function ideas: build first</a:t>
            </a:r>
            <a:endParaRPr lang="en-US" sz="3000" dirty="0"/>
          </a:p>
        </p:txBody>
      </p:sp>
      <p:sp>
        <p:nvSpPr>
          <p:cNvPr id="3" name="Text 1"/>
          <p:cNvSpPr/>
          <p:nvPr/>
        </p:nvSpPr>
        <p:spPr>
          <a:xfrm>
            <a:off x="548640" y="1078992"/>
            <a:ext cx="11091672" cy="457200"/>
          </a:xfrm>
          <a:prstGeom prst="rect">
            <a:avLst/>
          </a:prstGeom>
          <a:noFill/>
          <a:ln/>
        </p:spPr>
        <p:txBody>
          <a:bodyPr wrap="square" lIns="0" tIns="0" rIns="0" bIns="0" rtlCol="0" anchor="ctr"/>
          <a:lstStyle/>
          <a:p>
            <a:pPr indent="0" marL="0">
              <a:buNone/>
            </a:pPr>
            <a:r>
              <a:rPr lang="en-US" sz="1500" i="1" dirty="0">
                <a:solidFill>
                  <a:srgbClr val="5A6478"/>
                </a:solidFill>
                <a:latin typeface="Calibri" pitchFamily="34" charset="0"/>
                <a:ea typeface="Calibri" pitchFamily="34" charset="-122"/>
                <a:cs typeface="Calibri" pitchFamily="34" charset="-120"/>
              </a:rPr>
              <a:t>Geography-free. These are what let a county-data tool serve the highest-need users at all.</a:t>
            </a:r>
            <a:endParaRPr lang="en-US" sz="1500" dirty="0"/>
          </a:p>
        </p:txBody>
      </p:sp>
      <p:sp>
        <p:nvSpPr>
          <p:cNvPr id="4" name="Shape 2"/>
          <p:cNvSpPr/>
          <p:nvPr/>
        </p:nvSpPr>
        <p:spPr>
          <a:xfrm>
            <a:off x="9811512" y="502920"/>
            <a:ext cx="1828800" cy="274320"/>
          </a:xfrm>
          <a:prstGeom prst="roundRect">
            <a:avLst>
              <a:gd name="adj" fmla="val 50000"/>
            </a:avLst>
          </a:prstGeom>
          <a:solidFill>
            <a:srgbClr val="C8A951"/>
          </a:solidFill>
          <a:ln w="12700">
            <a:solidFill>
              <a:srgbClr val="C8A951"/>
            </a:solidFill>
            <a:prstDash val="solid"/>
          </a:ln>
        </p:spPr>
      </p:sp>
      <p:sp>
        <p:nvSpPr>
          <p:cNvPr id="5" name="Text 3"/>
          <p:cNvSpPr/>
          <p:nvPr/>
        </p:nvSpPr>
        <p:spPr>
          <a:xfrm>
            <a:off x="9811512" y="502920"/>
            <a:ext cx="1828800" cy="274320"/>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Ideas, not scope</a:t>
            </a:r>
            <a:endParaRPr lang="en-US" sz="1000" dirty="0"/>
          </a:p>
        </p:txBody>
      </p:sp>
      <p:sp>
        <p:nvSpPr>
          <p:cNvPr id="6" name="Shape 4"/>
          <p:cNvSpPr/>
          <p:nvPr/>
        </p:nvSpPr>
        <p:spPr>
          <a:xfrm>
            <a:off x="548640" y="1691640"/>
            <a:ext cx="2567178" cy="4114800"/>
          </a:xfrm>
          <a:prstGeom prst="rect">
            <a:avLst/>
          </a:prstGeom>
          <a:solidFill>
            <a:srgbClr val="EEF1F8"/>
          </a:solidFill>
          <a:ln w="12700">
            <a:solidFill>
              <a:srgbClr val="DDE3EF"/>
            </a:solidFill>
            <a:prstDash val="solid"/>
          </a:ln>
        </p:spPr>
      </p:sp>
      <p:sp>
        <p:nvSpPr>
          <p:cNvPr id="7" name="Shape 5"/>
          <p:cNvSpPr/>
          <p:nvPr/>
        </p:nvSpPr>
        <p:spPr>
          <a:xfrm>
            <a:off x="777240" y="1920240"/>
            <a:ext cx="548640" cy="548640"/>
          </a:xfrm>
          <a:prstGeom prst="ellipse">
            <a:avLst/>
          </a:prstGeom>
          <a:solidFill>
            <a:srgbClr val="1E2761"/>
          </a:solidFill>
          <a:ln w="12700">
            <a:solidFill>
              <a:srgbClr val="1E2761"/>
            </a:solidFill>
            <a:prstDash val="solid"/>
          </a:ln>
        </p:spPr>
      </p:sp>
      <p:pic>
        <p:nvPicPr>
          <p:cNvPr id="8" name="Image 0" descr="preencoded.png">    </p:cNvPr>
          <p:cNvPicPr>
            <a:picLocks noChangeAspect="1"/>
          </p:cNvPicPr>
          <p:nvPr/>
        </p:nvPicPr>
        <p:blipFill>
          <a:blip r:embed="rId1"/>
          <a:stretch>
            <a:fillRect/>
          </a:stretch>
        </p:blipFill>
        <p:spPr>
          <a:xfrm>
            <a:off x="908914" y="2051914"/>
            <a:ext cx="285293" cy="285293"/>
          </a:xfrm>
          <a:prstGeom prst="rect">
            <a:avLst/>
          </a:prstGeom>
        </p:spPr>
      </p:pic>
      <p:sp>
        <p:nvSpPr>
          <p:cNvPr id="9" name="Text 6"/>
          <p:cNvSpPr/>
          <p:nvPr/>
        </p:nvSpPr>
        <p:spPr>
          <a:xfrm>
            <a:off x="1698498" y="2039112"/>
            <a:ext cx="1188720" cy="274320"/>
          </a:xfrm>
          <a:prstGeom prst="rect">
            <a:avLst/>
          </a:prstGeom>
          <a:noFill/>
          <a:ln/>
        </p:spPr>
        <p:txBody>
          <a:bodyPr wrap="square" lIns="0" tIns="0" rIns="0" bIns="0" rtlCol="0" anchor="ctr"/>
          <a:lstStyle/>
          <a:p>
            <a:pPr algn="r" indent="0" marL="0">
              <a:buNone/>
            </a:pPr>
            <a:r>
              <a:rPr lang="en-US" sz="900" b="1" dirty="0">
                <a:solidFill>
                  <a:srgbClr val="2E6B3F"/>
                </a:solidFill>
                <a:latin typeface="Calibri" pitchFamily="34" charset="0"/>
                <a:ea typeface="Calibri" pitchFamily="34" charset="-122"/>
                <a:cs typeface="Calibri" pitchFamily="34" charset="-120"/>
              </a:rPr>
              <a:t>Geography-free</a:t>
            </a:r>
            <a:endParaRPr lang="en-US" sz="900" dirty="0"/>
          </a:p>
        </p:txBody>
      </p:sp>
      <p:sp>
        <p:nvSpPr>
          <p:cNvPr id="10" name="Text 7"/>
          <p:cNvSpPr/>
          <p:nvPr/>
        </p:nvSpPr>
        <p:spPr>
          <a:xfrm>
            <a:off x="777240" y="2560320"/>
            <a:ext cx="2109978" cy="685800"/>
          </a:xfrm>
          <a:prstGeom prst="rect">
            <a:avLst/>
          </a:prstGeom>
          <a:noFill/>
          <a:ln/>
        </p:spPr>
        <p:txBody>
          <a:bodyPr wrap="square" lIns="0" tIns="0" rIns="0" bIns="0" rtlCol="0" anchor="t"/>
          <a:lstStyle/>
          <a:p>
            <a:pPr indent="0" marL="0">
              <a:buNone/>
            </a:pPr>
            <a:r>
              <a:rPr lang="en-US" sz="1500" b="1" dirty="0">
                <a:solidFill>
                  <a:srgbClr val="1E2761"/>
                </a:solidFill>
                <a:latin typeface="Cambria" pitchFamily="34" charset="0"/>
                <a:ea typeface="Cambria" pitchFamily="34" charset="-122"/>
                <a:cs typeface="Cambria" pitchFamily="34" charset="-120"/>
              </a:rPr>
              <a:t>Bring-your-own-numbers</a:t>
            </a:r>
            <a:endParaRPr lang="en-US" sz="1500" dirty="0"/>
          </a:p>
        </p:txBody>
      </p:sp>
      <p:sp>
        <p:nvSpPr>
          <p:cNvPr id="11" name="Text 8"/>
          <p:cNvSpPr/>
          <p:nvPr/>
        </p:nvSpPr>
        <p:spPr>
          <a:xfrm>
            <a:off x="777240" y="3246120"/>
            <a:ext cx="2109978" cy="242316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What it does</a:t>
            </a:r>
            <a:endParaRPr lang="en-US" sz="1200" dirty="0"/>
          </a:p>
          <a:p>
            <a:pPr indent="0" marL="0">
              <a:spcAft>
                <a:spcPts val="800"/>
              </a:spcAft>
              <a:buNone/>
            </a:pPr>
            <a:r>
              <a:rPr lang="en-US" sz="1200" dirty="0">
                <a:solidFill>
                  <a:srgbClr val="24304A"/>
                </a:solidFill>
                <a:latin typeface="Calibri" pitchFamily="34" charset="0"/>
                <a:ea typeface="Calibri" pitchFamily="34" charset="-122"/>
                <a:cs typeface="Calibri" pitchFamily="34" charset="-120"/>
              </a:rPr>
              <a:t>One input panel: any estimate and its MOE, no geography field. Everything downstream runs on those values.</a:t>
            </a:r>
            <a:endParaRPr lang="en-US" sz="1200" dirty="0"/>
          </a:p>
          <a:p>
            <a:pPr indent="0" marL="0">
              <a:buNone/>
            </a:pPr>
            <a:r>
              <a:rPr lang="en-US" sz="1200" b="1" dirty="0">
                <a:solidFill>
                  <a:srgbClr val="1E2761"/>
                </a:solidFill>
                <a:latin typeface="Calibri" pitchFamily="34" charset="0"/>
                <a:ea typeface="Calibri" pitchFamily="34" charset="-122"/>
                <a:cs typeface="Calibri" pitchFamily="34" charset="-120"/>
              </a:rPr>
              <a:t>Why people may need it</a:t>
            </a:r>
            <a:endParaRPr lang="en-US" sz="1200" dirty="0"/>
          </a:p>
          <a:p>
            <a:pPr indent="0" marL="0">
              <a:buNone/>
            </a:pPr>
            <a:r>
              <a:rPr lang="en-US" sz="1200" dirty="0">
                <a:solidFill>
                  <a:srgbClr val="24304A"/>
                </a:solidFill>
                <a:latin typeface="Calibri" pitchFamily="34" charset="0"/>
                <a:ea typeface="Calibri" pitchFamily="34" charset="-122"/>
                <a:cs typeface="Calibri" pitchFamily="34" charset="-120"/>
              </a:rPr>
              <a:t>Planners, academics, transportation, and EJ analysts work below county. Pasting a tract estimate gets them the same test, propagation, and warning a county user gets.</a:t>
            </a:r>
            <a:endParaRPr lang="en-US" sz="1200" dirty="0"/>
          </a:p>
        </p:txBody>
      </p:sp>
      <p:sp>
        <p:nvSpPr>
          <p:cNvPr id="12" name="Shape 9"/>
          <p:cNvSpPr/>
          <p:nvPr/>
        </p:nvSpPr>
        <p:spPr>
          <a:xfrm>
            <a:off x="3390138" y="1691640"/>
            <a:ext cx="2567178" cy="4114800"/>
          </a:xfrm>
          <a:prstGeom prst="rect">
            <a:avLst/>
          </a:prstGeom>
          <a:solidFill>
            <a:srgbClr val="F3F5FA"/>
          </a:solidFill>
          <a:ln w="12700">
            <a:solidFill>
              <a:srgbClr val="DDE3EF"/>
            </a:solidFill>
            <a:prstDash val="solid"/>
          </a:ln>
        </p:spPr>
      </p:sp>
      <p:sp>
        <p:nvSpPr>
          <p:cNvPr id="13" name="Shape 10"/>
          <p:cNvSpPr/>
          <p:nvPr/>
        </p:nvSpPr>
        <p:spPr>
          <a:xfrm>
            <a:off x="3618738" y="1920240"/>
            <a:ext cx="548640" cy="548640"/>
          </a:xfrm>
          <a:prstGeom prst="ellipse">
            <a:avLst/>
          </a:prstGeom>
          <a:solidFill>
            <a:srgbClr val="1E2761"/>
          </a:solidFill>
          <a:ln w="12700">
            <a:solidFill>
              <a:srgbClr val="1E2761"/>
            </a:solidFill>
            <a:prstDash val="solid"/>
          </a:ln>
        </p:spPr>
      </p:sp>
      <p:pic>
        <p:nvPicPr>
          <p:cNvPr id="14" name="Image 1" descr="preencoded.png">    </p:cNvPr>
          <p:cNvPicPr>
            <a:picLocks noChangeAspect="1"/>
          </p:cNvPicPr>
          <p:nvPr/>
        </p:nvPicPr>
        <p:blipFill>
          <a:blip r:embed="rId2"/>
          <a:stretch>
            <a:fillRect/>
          </a:stretch>
        </p:blipFill>
        <p:spPr>
          <a:xfrm>
            <a:off x="3750412" y="2051914"/>
            <a:ext cx="285293" cy="285293"/>
          </a:xfrm>
          <a:prstGeom prst="rect">
            <a:avLst/>
          </a:prstGeom>
        </p:spPr>
      </p:pic>
      <p:sp>
        <p:nvSpPr>
          <p:cNvPr id="15" name="Text 11"/>
          <p:cNvSpPr/>
          <p:nvPr/>
        </p:nvSpPr>
        <p:spPr>
          <a:xfrm>
            <a:off x="4539996" y="2039112"/>
            <a:ext cx="1188720" cy="274320"/>
          </a:xfrm>
          <a:prstGeom prst="rect">
            <a:avLst/>
          </a:prstGeom>
          <a:noFill/>
          <a:ln/>
        </p:spPr>
        <p:txBody>
          <a:bodyPr wrap="square" lIns="0" tIns="0" rIns="0" bIns="0" rtlCol="0" anchor="ctr"/>
          <a:lstStyle/>
          <a:p>
            <a:pPr algn="r" indent="0" marL="0">
              <a:buNone/>
            </a:pPr>
            <a:r>
              <a:rPr lang="en-US" sz="900" b="1" dirty="0">
                <a:solidFill>
                  <a:srgbClr val="2E6B3F"/>
                </a:solidFill>
                <a:latin typeface="Calibri" pitchFamily="34" charset="0"/>
                <a:ea typeface="Calibri" pitchFamily="34" charset="-122"/>
                <a:cs typeface="Calibri" pitchFamily="34" charset="-120"/>
              </a:rPr>
              <a:t>Geography-free</a:t>
            </a:r>
            <a:endParaRPr lang="en-US" sz="900" dirty="0"/>
          </a:p>
        </p:txBody>
      </p:sp>
      <p:sp>
        <p:nvSpPr>
          <p:cNvPr id="16" name="Text 12"/>
          <p:cNvSpPr/>
          <p:nvPr/>
        </p:nvSpPr>
        <p:spPr>
          <a:xfrm>
            <a:off x="3618738" y="2560320"/>
            <a:ext cx="2109978" cy="685800"/>
          </a:xfrm>
          <a:prstGeom prst="rect">
            <a:avLst/>
          </a:prstGeom>
          <a:noFill/>
          <a:ln/>
        </p:spPr>
        <p:txBody>
          <a:bodyPr wrap="square" lIns="0" tIns="0" rIns="0" bIns="0" rtlCol="0" anchor="t"/>
          <a:lstStyle/>
          <a:p>
            <a:pPr indent="0" marL="0">
              <a:buNone/>
            </a:pPr>
            <a:r>
              <a:rPr lang="en-US" sz="1500" b="1" dirty="0">
                <a:solidFill>
                  <a:srgbClr val="1E2761"/>
                </a:solidFill>
                <a:latin typeface="Cambria" pitchFamily="34" charset="0"/>
                <a:ea typeface="Cambria" pitchFamily="34" charset="-122"/>
                <a:cs typeface="Cambria" pitchFamily="34" charset="-120"/>
              </a:rPr>
              <a:t>Comparison and significance check</a:t>
            </a:r>
            <a:endParaRPr lang="en-US" sz="1500" dirty="0"/>
          </a:p>
        </p:txBody>
      </p:sp>
      <p:sp>
        <p:nvSpPr>
          <p:cNvPr id="17" name="Text 13"/>
          <p:cNvSpPr/>
          <p:nvPr/>
        </p:nvSpPr>
        <p:spPr>
          <a:xfrm>
            <a:off x="3618738" y="3246120"/>
            <a:ext cx="2109978" cy="242316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What it does</a:t>
            </a:r>
            <a:endParaRPr lang="en-US" sz="1200" dirty="0"/>
          </a:p>
          <a:p>
            <a:pPr indent="0" marL="0">
              <a:spcAft>
                <a:spcPts val="800"/>
              </a:spcAft>
              <a:buNone/>
            </a:pPr>
            <a:r>
              <a:rPr lang="en-US" sz="1200" dirty="0">
                <a:solidFill>
                  <a:srgbClr val="24304A"/>
                </a:solidFill>
                <a:latin typeface="Calibri" pitchFamily="34" charset="0"/>
                <a:ea typeface="Calibri" pitchFamily="34" charset="-122"/>
                <a:cs typeface="Calibri" pitchFamily="34" charset="-120"/>
              </a:rPr>
              <a:t>Two estimates, two places or two vintages, and a yes or no on whether the difference is distinguishable at 90 percent. The arithmetic stays visible.</a:t>
            </a:r>
            <a:endParaRPr lang="en-US" sz="1200" dirty="0"/>
          </a:p>
          <a:p>
            <a:pPr indent="0" marL="0">
              <a:buNone/>
            </a:pPr>
            <a:r>
              <a:rPr lang="en-US" sz="1200" b="1" dirty="0">
                <a:solidFill>
                  <a:srgbClr val="1E2761"/>
                </a:solidFill>
                <a:latin typeface="Calibri" pitchFamily="34" charset="0"/>
                <a:ea typeface="Calibri" pitchFamily="34" charset="-122"/>
                <a:cs typeface="Calibri" pitchFamily="34" charset="-120"/>
              </a:rPr>
              <a:t>Why people may need it</a:t>
            </a:r>
            <a:endParaRPr lang="en-US" sz="1200" dirty="0"/>
          </a:p>
          <a:p>
            <a:pPr indent="0" marL="0">
              <a:buNone/>
            </a:pPr>
            <a:r>
              <a:rPr lang="en-US" sz="1200" dirty="0">
                <a:solidFill>
                  <a:srgbClr val="24304A"/>
                </a:solidFill>
                <a:latin typeface="Calibri" pitchFamily="34" charset="0"/>
                <a:ea typeface="Calibri" pitchFamily="34" charset="-122"/>
                <a:cs typeface="Calibri" pitchFamily="34" charset="-120"/>
              </a:rPr>
              <a:t>Jurjevich's first guideline: test before comparing. The Census tool does this in Excel; nobody does it in a county interface.</a:t>
            </a:r>
            <a:endParaRPr lang="en-US" sz="1200" dirty="0"/>
          </a:p>
        </p:txBody>
      </p:sp>
      <p:sp>
        <p:nvSpPr>
          <p:cNvPr id="18" name="Shape 14"/>
          <p:cNvSpPr/>
          <p:nvPr/>
        </p:nvSpPr>
        <p:spPr>
          <a:xfrm>
            <a:off x="6231636" y="1691640"/>
            <a:ext cx="2567178" cy="4114800"/>
          </a:xfrm>
          <a:prstGeom prst="rect">
            <a:avLst/>
          </a:prstGeom>
          <a:solidFill>
            <a:srgbClr val="EEF1F8"/>
          </a:solidFill>
          <a:ln w="12700">
            <a:solidFill>
              <a:srgbClr val="DDE3EF"/>
            </a:solidFill>
            <a:prstDash val="solid"/>
          </a:ln>
        </p:spPr>
      </p:sp>
      <p:sp>
        <p:nvSpPr>
          <p:cNvPr id="19" name="Shape 15"/>
          <p:cNvSpPr/>
          <p:nvPr/>
        </p:nvSpPr>
        <p:spPr>
          <a:xfrm>
            <a:off x="6460236" y="1920240"/>
            <a:ext cx="548640" cy="548640"/>
          </a:xfrm>
          <a:prstGeom prst="ellipse">
            <a:avLst/>
          </a:prstGeom>
          <a:solidFill>
            <a:srgbClr val="1E2761"/>
          </a:solidFill>
          <a:ln w="12700">
            <a:solidFill>
              <a:srgbClr val="1E2761"/>
            </a:solidFill>
            <a:prstDash val="solid"/>
          </a:ln>
        </p:spPr>
      </p:sp>
      <p:pic>
        <p:nvPicPr>
          <p:cNvPr id="20" name="Image 2" descr="preencoded.png">    </p:cNvPr>
          <p:cNvPicPr>
            <a:picLocks noChangeAspect="1"/>
          </p:cNvPicPr>
          <p:nvPr/>
        </p:nvPicPr>
        <p:blipFill>
          <a:blip r:embed="rId3"/>
          <a:stretch>
            <a:fillRect/>
          </a:stretch>
        </p:blipFill>
        <p:spPr>
          <a:xfrm>
            <a:off x="6591910" y="2051914"/>
            <a:ext cx="285293" cy="285293"/>
          </a:xfrm>
          <a:prstGeom prst="rect">
            <a:avLst/>
          </a:prstGeom>
        </p:spPr>
      </p:pic>
      <p:sp>
        <p:nvSpPr>
          <p:cNvPr id="21" name="Text 16"/>
          <p:cNvSpPr/>
          <p:nvPr/>
        </p:nvSpPr>
        <p:spPr>
          <a:xfrm>
            <a:off x="7381494" y="2039112"/>
            <a:ext cx="1188720" cy="274320"/>
          </a:xfrm>
          <a:prstGeom prst="rect">
            <a:avLst/>
          </a:prstGeom>
          <a:noFill/>
          <a:ln/>
        </p:spPr>
        <p:txBody>
          <a:bodyPr wrap="square" lIns="0" tIns="0" rIns="0" bIns="0" rtlCol="0" anchor="ctr"/>
          <a:lstStyle/>
          <a:p>
            <a:pPr algn="r" indent="0" marL="0">
              <a:buNone/>
            </a:pPr>
            <a:r>
              <a:rPr lang="en-US" sz="900" b="1" dirty="0">
                <a:solidFill>
                  <a:srgbClr val="2E6B3F"/>
                </a:solidFill>
                <a:latin typeface="Calibri" pitchFamily="34" charset="0"/>
                <a:ea typeface="Calibri" pitchFamily="34" charset="-122"/>
                <a:cs typeface="Calibri" pitchFamily="34" charset="-120"/>
              </a:rPr>
              <a:t>Geography-free</a:t>
            </a:r>
            <a:endParaRPr lang="en-US" sz="900" dirty="0"/>
          </a:p>
        </p:txBody>
      </p:sp>
      <p:sp>
        <p:nvSpPr>
          <p:cNvPr id="22" name="Text 17"/>
          <p:cNvSpPr/>
          <p:nvPr/>
        </p:nvSpPr>
        <p:spPr>
          <a:xfrm>
            <a:off x="6460236" y="2560320"/>
            <a:ext cx="2109978" cy="685800"/>
          </a:xfrm>
          <a:prstGeom prst="rect">
            <a:avLst/>
          </a:prstGeom>
          <a:noFill/>
          <a:ln/>
        </p:spPr>
        <p:txBody>
          <a:bodyPr wrap="square" lIns="0" tIns="0" rIns="0" bIns="0" rtlCol="0" anchor="t"/>
          <a:lstStyle/>
          <a:p>
            <a:pPr indent="0" marL="0">
              <a:buNone/>
            </a:pPr>
            <a:r>
              <a:rPr lang="en-US" sz="1500" b="1" dirty="0">
                <a:solidFill>
                  <a:srgbClr val="1E2761"/>
                </a:solidFill>
                <a:latin typeface="Cambria" pitchFamily="34" charset="0"/>
                <a:ea typeface="Cambria" pitchFamily="34" charset="-122"/>
                <a:cs typeface="Cambria" pitchFamily="34" charset="-120"/>
              </a:rPr>
              <a:t>Derived-quantity MOE calculator</a:t>
            </a:r>
            <a:endParaRPr lang="en-US" sz="1500" dirty="0"/>
          </a:p>
        </p:txBody>
      </p:sp>
      <p:sp>
        <p:nvSpPr>
          <p:cNvPr id="23" name="Text 18"/>
          <p:cNvSpPr/>
          <p:nvPr/>
        </p:nvSpPr>
        <p:spPr>
          <a:xfrm>
            <a:off x="6460236" y="3246120"/>
            <a:ext cx="2109978" cy="242316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What it does</a:t>
            </a:r>
            <a:endParaRPr lang="en-US" sz="1200" dirty="0"/>
          </a:p>
          <a:p>
            <a:pPr indent="0" marL="0">
              <a:spcAft>
                <a:spcPts val="800"/>
              </a:spcAft>
              <a:buNone/>
            </a:pPr>
            <a:r>
              <a:rPr lang="en-US" sz="1200" dirty="0">
                <a:solidFill>
                  <a:srgbClr val="24304A"/>
                </a:solidFill>
                <a:latin typeface="Calibri" pitchFamily="34" charset="0"/>
                <a:ea typeface="Calibri" pitchFamily="34" charset="-122"/>
                <a:cs typeface="Calibri" pitchFamily="34" charset="-120"/>
              </a:rPr>
              <a:t>Propagated margin for sums, ratios, proportions, and differences using the Bureau's formulas. Reuses the repo's aggregate_moe.</a:t>
            </a:r>
            <a:endParaRPr lang="en-US" sz="1200" dirty="0"/>
          </a:p>
          <a:p>
            <a:pPr indent="0" marL="0">
              <a:buNone/>
            </a:pPr>
            <a:r>
              <a:rPr lang="en-US" sz="1200" b="1" dirty="0">
                <a:solidFill>
                  <a:srgbClr val="1E2761"/>
                </a:solidFill>
                <a:latin typeface="Calibri" pitchFamily="34" charset="0"/>
                <a:ea typeface="Calibri" pitchFamily="34" charset="-122"/>
                <a:cs typeface="Calibri" pitchFamily="34" charset="-120"/>
              </a:rPr>
              <a:t>Why people may need it</a:t>
            </a:r>
            <a:endParaRPr lang="en-US" sz="1200" dirty="0"/>
          </a:p>
          <a:p>
            <a:pPr indent="0" marL="0">
              <a:buNone/>
            </a:pPr>
            <a:r>
              <a:rPr lang="en-US" sz="1200" dirty="0">
                <a:solidFill>
                  <a:srgbClr val="24304A"/>
                </a:solidFill>
                <a:latin typeface="Calibri" pitchFamily="34" charset="0"/>
                <a:ea typeface="Calibri" pitchFamily="34" charset="-122"/>
                <a:cs typeface="Calibri" pitchFamily="34" charset="-120"/>
              </a:rPr>
              <a:t>Any rate a user computes carries error the Bureau never published. The independence assumption fails for rates, and the tool can say so.</a:t>
            </a:r>
            <a:endParaRPr lang="en-US" sz="1200" dirty="0"/>
          </a:p>
        </p:txBody>
      </p:sp>
      <p:sp>
        <p:nvSpPr>
          <p:cNvPr id="24" name="Shape 19"/>
          <p:cNvSpPr/>
          <p:nvPr/>
        </p:nvSpPr>
        <p:spPr>
          <a:xfrm>
            <a:off x="9073134" y="1691640"/>
            <a:ext cx="2567178" cy="4114800"/>
          </a:xfrm>
          <a:prstGeom prst="rect">
            <a:avLst/>
          </a:prstGeom>
          <a:solidFill>
            <a:srgbClr val="F3F5FA"/>
          </a:solidFill>
          <a:ln w="12700">
            <a:solidFill>
              <a:srgbClr val="DDE3EF"/>
            </a:solidFill>
            <a:prstDash val="solid"/>
          </a:ln>
        </p:spPr>
      </p:sp>
      <p:sp>
        <p:nvSpPr>
          <p:cNvPr id="25" name="Shape 20"/>
          <p:cNvSpPr/>
          <p:nvPr/>
        </p:nvSpPr>
        <p:spPr>
          <a:xfrm>
            <a:off x="9301734" y="1920240"/>
            <a:ext cx="548640" cy="548640"/>
          </a:xfrm>
          <a:prstGeom prst="ellipse">
            <a:avLst/>
          </a:prstGeom>
          <a:solidFill>
            <a:srgbClr val="1E2761"/>
          </a:solidFill>
          <a:ln w="12700">
            <a:solidFill>
              <a:srgbClr val="1E2761"/>
            </a:solidFill>
            <a:prstDash val="solid"/>
          </a:ln>
        </p:spPr>
      </p:sp>
      <p:pic>
        <p:nvPicPr>
          <p:cNvPr id="26" name="Image 3" descr="preencoded.png">    </p:cNvPr>
          <p:cNvPicPr>
            <a:picLocks noChangeAspect="1"/>
          </p:cNvPicPr>
          <p:nvPr/>
        </p:nvPicPr>
        <p:blipFill>
          <a:blip r:embed="rId4"/>
          <a:stretch>
            <a:fillRect/>
          </a:stretch>
        </p:blipFill>
        <p:spPr>
          <a:xfrm>
            <a:off x="9433408" y="2051914"/>
            <a:ext cx="285293" cy="285293"/>
          </a:xfrm>
          <a:prstGeom prst="rect">
            <a:avLst/>
          </a:prstGeom>
        </p:spPr>
      </p:pic>
      <p:sp>
        <p:nvSpPr>
          <p:cNvPr id="27" name="Text 21"/>
          <p:cNvSpPr/>
          <p:nvPr/>
        </p:nvSpPr>
        <p:spPr>
          <a:xfrm>
            <a:off x="10222992" y="2039112"/>
            <a:ext cx="1188720" cy="274320"/>
          </a:xfrm>
          <a:prstGeom prst="rect">
            <a:avLst/>
          </a:prstGeom>
          <a:noFill/>
          <a:ln/>
        </p:spPr>
        <p:txBody>
          <a:bodyPr wrap="square" lIns="0" tIns="0" rIns="0" bIns="0" rtlCol="0" anchor="ctr"/>
          <a:lstStyle/>
          <a:p>
            <a:pPr algn="r" indent="0" marL="0">
              <a:buNone/>
            </a:pPr>
            <a:r>
              <a:rPr lang="en-US" sz="900" b="1" dirty="0">
                <a:solidFill>
                  <a:srgbClr val="2E6B3F"/>
                </a:solidFill>
                <a:latin typeface="Calibri" pitchFamily="34" charset="0"/>
                <a:ea typeface="Calibri" pitchFamily="34" charset="-122"/>
                <a:cs typeface="Calibri" pitchFamily="34" charset="-120"/>
              </a:rPr>
              <a:t>Geography-free</a:t>
            </a:r>
            <a:endParaRPr lang="en-US" sz="900" dirty="0"/>
          </a:p>
        </p:txBody>
      </p:sp>
      <p:sp>
        <p:nvSpPr>
          <p:cNvPr id="28" name="Text 22"/>
          <p:cNvSpPr/>
          <p:nvPr/>
        </p:nvSpPr>
        <p:spPr>
          <a:xfrm>
            <a:off x="9301734" y="2560320"/>
            <a:ext cx="2109978" cy="685800"/>
          </a:xfrm>
          <a:prstGeom prst="rect">
            <a:avLst/>
          </a:prstGeom>
          <a:noFill/>
          <a:ln/>
        </p:spPr>
        <p:txBody>
          <a:bodyPr wrap="square" lIns="0" tIns="0" rIns="0" bIns="0" rtlCol="0" anchor="t"/>
          <a:lstStyle/>
          <a:p>
            <a:pPr indent="0" marL="0">
              <a:buNone/>
            </a:pPr>
            <a:r>
              <a:rPr lang="en-US" sz="1500" b="1" dirty="0">
                <a:solidFill>
                  <a:srgbClr val="1E2761"/>
                </a:solidFill>
                <a:latin typeface="Cambria" pitchFamily="34" charset="0"/>
                <a:ea typeface="Cambria" pitchFamily="34" charset="-122"/>
                <a:cs typeface="Cambria" pitchFamily="34" charset="-120"/>
              </a:rPr>
              <a:t>Overlapping-window guard</a:t>
            </a:r>
            <a:endParaRPr lang="en-US" sz="1500" dirty="0"/>
          </a:p>
        </p:txBody>
      </p:sp>
      <p:sp>
        <p:nvSpPr>
          <p:cNvPr id="29" name="Text 23"/>
          <p:cNvSpPr/>
          <p:nvPr/>
        </p:nvSpPr>
        <p:spPr>
          <a:xfrm>
            <a:off x="9301734" y="3246120"/>
            <a:ext cx="2109978" cy="242316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What it does</a:t>
            </a:r>
            <a:endParaRPr lang="en-US" sz="1200" dirty="0"/>
          </a:p>
          <a:p>
            <a:pPr indent="0" marL="0">
              <a:spcAft>
                <a:spcPts val="800"/>
              </a:spcAft>
              <a:buNone/>
            </a:pPr>
            <a:r>
              <a:rPr lang="en-US" sz="1200" dirty="0">
                <a:solidFill>
                  <a:srgbClr val="24304A"/>
                </a:solidFill>
                <a:latin typeface="Calibri" pitchFamily="34" charset="0"/>
                <a:ea typeface="Calibri" pitchFamily="34" charset="-122"/>
                <a:cs typeface="Calibri" pitchFamily="34" charset="-120"/>
              </a:rPr>
              <a:t>Counts shared sample years between two 5-year vintages and warns or blocks. 2023 and 2024 share four of five. Optionally applies the overlap-adjusted SE.</a:t>
            </a:r>
            <a:endParaRPr lang="en-US" sz="1200" dirty="0"/>
          </a:p>
          <a:p>
            <a:pPr indent="0" marL="0">
              <a:buNone/>
            </a:pPr>
            <a:r>
              <a:rPr lang="en-US" sz="1200" b="1" dirty="0">
                <a:solidFill>
                  <a:srgbClr val="1E2761"/>
                </a:solidFill>
                <a:latin typeface="Calibri" pitchFamily="34" charset="0"/>
                <a:ea typeface="Calibri" pitchFamily="34" charset="-122"/>
                <a:cs typeface="Calibri" pitchFamily="34" charset="-120"/>
              </a:rPr>
              <a:t>Why people may need it</a:t>
            </a:r>
            <a:endParaRPr lang="en-US" sz="1200" dirty="0"/>
          </a:p>
          <a:p>
            <a:pPr indent="0" marL="0">
              <a:buNone/>
            </a:pPr>
            <a:r>
              <a:rPr lang="en-US" sz="1200" dirty="0">
                <a:solidFill>
                  <a:srgbClr val="24304A"/>
                </a:solidFill>
                <a:latin typeface="Calibri" pitchFamily="34" charset="0"/>
                <a:ea typeface="Calibri" pitchFamily="34" charset="-122"/>
                <a:cs typeface="Calibri" pitchFamily="34" charset="-120"/>
              </a:rPr>
              <a:t>The Bureau says do not compare overlapping periods. Users do it constantly. No consumer tool automates the rule. Strongest documented, least served.</a:t>
            </a:r>
            <a:endParaRPr lang="en-US" sz="1200" dirty="0"/>
          </a:p>
        </p:txBody>
      </p:sp>
      <p:sp>
        <p:nvSpPr>
          <p:cNvPr id="30" name="Text 24"/>
          <p:cNvSpPr/>
          <p:nvPr/>
        </p:nvSpPr>
        <p:spPr>
          <a:xfrm>
            <a:off x="548640" y="6355080"/>
            <a:ext cx="11091672" cy="27432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Sources: Jurjevich et al. 2018 guidelines; Census Statistical Testing Tool; ACS General Handbook 2018 ch. 7 (overlap-adjusted SE formula); Census blog March 2022 on overlapping periods.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Function ideas: native county</a:t>
            </a:r>
            <a:endParaRPr lang="en-US" sz="3000" dirty="0"/>
          </a:p>
        </p:txBody>
      </p:sp>
      <p:sp>
        <p:nvSpPr>
          <p:cNvPr id="3" name="Text 1"/>
          <p:cNvSpPr/>
          <p:nvPr/>
        </p:nvSpPr>
        <p:spPr>
          <a:xfrm>
            <a:off x="548640" y="1078992"/>
            <a:ext cx="11091672" cy="457200"/>
          </a:xfrm>
          <a:prstGeom prst="rect">
            <a:avLst/>
          </a:prstGeom>
          <a:noFill/>
          <a:ln/>
        </p:spPr>
        <p:txBody>
          <a:bodyPr wrap="square" lIns="0" tIns="0" rIns="0" bIns="0" rtlCol="0" anchor="ctr"/>
          <a:lstStyle/>
          <a:p>
            <a:pPr indent="0" marL="0">
              <a:buNone/>
            </a:pPr>
            <a:r>
              <a:rPr lang="en-US" sz="1500" i="1" dirty="0">
                <a:solidFill>
                  <a:srgbClr val="5A6478"/>
                </a:solidFill>
                <a:latin typeface="Calibri" pitchFamily="34" charset="0"/>
                <a:ea typeface="Calibri" pitchFamily="34" charset="-122"/>
                <a:cs typeface="Calibri" pitchFamily="34" charset="-120"/>
              </a:rPr>
              <a:t>Where the county data earns its keep.</a:t>
            </a:r>
            <a:endParaRPr lang="en-US" sz="1500" dirty="0"/>
          </a:p>
        </p:txBody>
      </p:sp>
      <p:sp>
        <p:nvSpPr>
          <p:cNvPr id="4" name="Shape 2"/>
          <p:cNvSpPr/>
          <p:nvPr/>
        </p:nvSpPr>
        <p:spPr>
          <a:xfrm>
            <a:off x="9811512" y="502920"/>
            <a:ext cx="1828800" cy="274320"/>
          </a:xfrm>
          <a:prstGeom prst="roundRect">
            <a:avLst>
              <a:gd name="adj" fmla="val 50000"/>
            </a:avLst>
          </a:prstGeom>
          <a:solidFill>
            <a:srgbClr val="C8A951"/>
          </a:solidFill>
          <a:ln w="12700">
            <a:solidFill>
              <a:srgbClr val="C8A951"/>
            </a:solidFill>
            <a:prstDash val="solid"/>
          </a:ln>
        </p:spPr>
      </p:sp>
      <p:sp>
        <p:nvSpPr>
          <p:cNvPr id="5" name="Text 3"/>
          <p:cNvSpPr/>
          <p:nvPr/>
        </p:nvSpPr>
        <p:spPr>
          <a:xfrm>
            <a:off x="9811512" y="502920"/>
            <a:ext cx="1828800" cy="274320"/>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Ideas, not scope</a:t>
            </a:r>
            <a:endParaRPr lang="en-US" sz="1000" dirty="0"/>
          </a:p>
        </p:txBody>
      </p:sp>
      <p:sp>
        <p:nvSpPr>
          <p:cNvPr id="6" name="Shape 4"/>
          <p:cNvSpPr/>
          <p:nvPr/>
        </p:nvSpPr>
        <p:spPr>
          <a:xfrm>
            <a:off x="548640" y="1691640"/>
            <a:ext cx="3514344" cy="4114800"/>
          </a:xfrm>
          <a:prstGeom prst="rect">
            <a:avLst/>
          </a:prstGeom>
          <a:solidFill>
            <a:srgbClr val="EEF1F8"/>
          </a:solidFill>
          <a:ln w="12700">
            <a:solidFill>
              <a:srgbClr val="DDE3EF"/>
            </a:solidFill>
            <a:prstDash val="solid"/>
          </a:ln>
        </p:spPr>
      </p:sp>
      <p:sp>
        <p:nvSpPr>
          <p:cNvPr id="7" name="Shape 5"/>
          <p:cNvSpPr/>
          <p:nvPr/>
        </p:nvSpPr>
        <p:spPr>
          <a:xfrm>
            <a:off x="777240" y="1920240"/>
            <a:ext cx="548640" cy="548640"/>
          </a:xfrm>
          <a:prstGeom prst="ellipse">
            <a:avLst/>
          </a:prstGeom>
          <a:solidFill>
            <a:srgbClr val="1E2761"/>
          </a:solidFill>
          <a:ln w="12700">
            <a:solidFill>
              <a:srgbClr val="1E2761"/>
            </a:solidFill>
            <a:prstDash val="solid"/>
          </a:ln>
        </p:spPr>
      </p:sp>
      <p:pic>
        <p:nvPicPr>
          <p:cNvPr id="8" name="Image 0" descr="preencoded.png">    </p:cNvPr>
          <p:cNvPicPr>
            <a:picLocks noChangeAspect="1"/>
          </p:cNvPicPr>
          <p:nvPr/>
        </p:nvPicPr>
        <p:blipFill>
          <a:blip r:embed="rId1"/>
          <a:stretch>
            <a:fillRect/>
          </a:stretch>
        </p:blipFill>
        <p:spPr>
          <a:xfrm>
            <a:off x="908914" y="2051914"/>
            <a:ext cx="285293" cy="285293"/>
          </a:xfrm>
          <a:prstGeom prst="rect">
            <a:avLst/>
          </a:prstGeom>
        </p:spPr>
      </p:pic>
      <p:sp>
        <p:nvSpPr>
          <p:cNvPr id="9" name="Text 6"/>
          <p:cNvSpPr/>
          <p:nvPr/>
        </p:nvSpPr>
        <p:spPr>
          <a:xfrm>
            <a:off x="2645664" y="2039112"/>
            <a:ext cx="1188720" cy="274320"/>
          </a:xfrm>
          <a:prstGeom prst="rect">
            <a:avLst/>
          </a:prstGeom>
          <a:noFill/>
          <a:ln/>
        </p:spPr>
        <p:txBody>
          <a:bodyPr wrap="square" lIns="0" tIns="0" rIns="0" bIns="0" rtlCol="0" anchor="ctr"/>
          <a:lstStyle/>
          <a:p>
            <a:pPr algn="r" indent="0" marL="0">
              <a:buNone/>
            </a:pPr>
            <a:r>
              <a:rPr lang="en-US" sz="900" b="1" dirty="0">
                <a:solidFill>
                  <a:srgbClr val="8A6D1F"/>
                </a:solidFill>
                <a:latin typeface="Calibri" pitchFamily="34" charset="0"/>
                <a:ea typeface="Calibri" pitchFamily="34" charset="-122"/>
                <a:cs typeface="Calibri" pitchFamily="34" charset="-120"/>
              </a:rPr>
              <a:t>Partial</a:t>
            </a:r>
            <a:endParaRPr lang="en-US" sz="900" dirty="0"/>
          </a:p>
        </p:txBody>
      </p:sp>
      <p:sp>
        <p:nvSpPr>
          <p:cNvPr id="10" name="Text 7"/>
          <p:cNvSpPr/>
          <p:nvPr/>
        </p:nvSpPr>
        <p:spPr>
          <a:xfrm>
            <a:off x="777240" y="2560320"/>
            <a:ext cx="3057144" cy="685800"/>
          </a:xfrm>
          <a:prstGeom prst="rect">
            <a:avLst/>
          </a:prstGeom>
          <a:noFill/>
          <a:ln/>
        </p:spPr>
        <p:txBody>
          <a:bodyPr wrap="square" lIns="0" tIns="0" rIns="0" bIns="0" rtlCol="0" anchor="t"/>
          <a:lstStyle/>
          <a:p>
            <a:pPr indent="0" marL="0">
              <a:buNone/>
            </a:pPr>
            <a:r>
              <a:rPr lang="en-US" sz="1500" b="1" dirty="0">
                <a:solidFill>
                  <a:srgbClr val="1E2761"/>
                </a:solidFill>
                <a:latin typeface="Cambria" pitchFamily="34" charset="0"/>
                <a:ea typeface="Cambria" pitchFamily="34" charset="-122"/>
                <a:cs typeface="Cambria" pitchFamily="34" charset="-120"/>
              </a:rPr>
              <a:t>Reliability card</a:t>
            </a:r>
            <a:endParaRPr lang="en-US" sz="1500" dirty="0"/>
          </a:p>
        </p:txBody>
      </p:sp>
      <p:sp>
        <p:nvSpPr>
          <p:cNvPr id="11" name="Text 8"/>
          <p:cNvSpPr/>
          <p:nvPr/>
        </p:nvSpPr>
        <p:spPr>
          <a:xfrm>
            <a:off x="777240" y="3246120"/>
            <a:ext cx="3057144" cy="242316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What it does</a:t>
            </a:r>
            <a:endParaRPr lang="en-US" sz="1200" dirty="0"/>
          </a:p>
          <a:p>
            <a:pPr indent="0" marL="0">
              <a:spcAft>
                <a:spcPts val="800"/>
              </a:spcAft>
              <a:buNone/>
            </a:pPr>
            <a:r>
              <a:rPr lang="en-US" sz="1200" dirty="0">
                <a:solidFill>
                  <a:srgbClr val="24304A"/>
                </a:solidFill>
                <a:latin typeface="Calibri" pitchFamily="34" charset="0"/>
                <a:ea typeface="Calibri" pitchFamily="34" charset="-122"/>
                <a:cs typeface="Calibri" pitchFamily="34" charset="-120"/>
              </a:rPr>
              <a:t>The default view for any county estimate: number, MOE, CV, and a plain-language label. Layered so the label sits on top and the CV is one tap down, never removed.</a:t>
            </a:r>
            <a:endParaRPr lang="en-US" sz="1200" dirty="0"/>
          </a:p>
          <a:p>
            <a:pPr indent="0" marL="0">
              <a:buNone/>
            </a:pPr>
            <a:r>
              <a:rPr lang="en-US" sz="1200" b="1" dirty="0">
                <a:solidFill>
                  <a:srgbClr val="1E2761"/>
                </a:solidFill>
                <a:latin typeface="Calibri" pitchFamily="34" charset="0"/>
                <a:ea typeface="Calibri" pitchFamily="34" charset="-122"/>
                <a:cs typeface="Calibri" pitchFamily="34" charset="-120"/>
              </a:rPr>
              <a:t>Why people may need it</a:t>
            </a:r>
            <a:endParaRPr lang="en-US" sz="1200" dirty="0"/>
          </a:p>
          <a:p>
            <a:pPr indent="0" marL="0">
              <a:buNone/>
            </a:pPr>
            <a:r>
              <a:rPr lang="en-US" sz="1200" dirty="0">
                <a:solidFill>
                  <a:srgbClr val="24304A"/>
                </a:solidFill>
                <a:latin typeface="Calibri" pitchFamily="34" charset="0"/>
                <a:ea typeface="Calibri" pitchFamily="34" charset="-122"/>
                <a:cs typeface="Calibri" pitchFamily="34" charset="-120"/>
              </a:rPr>
              <a:t>Journalists and small counties want the label. Planners and data centers need the value for footnotes. Thresholds should be a convention users already know, with the convention named.</a:t>
            </a:r>
            <a:endParaRPr lang="en-US" sz="1200" dirty="0"/>
          </a:p>
        </p:txBody>
      </p:sp>
      <p:sp>
        <p:nvSpPr>
          <p:cNvPr id="12" name="Shape 9"/>
          <p:cNvSpPr/>
          <p:nvPr/>
        </p:nvSpPr>
        <p:spPr>
          <a:xfrm>
            <a:off x="4337304" y="1691640"/>
            <a:ext cx="3514344" cy="4114800"/>
          </a:xfrm>
          <a:prstGeom prst="rect">
            <a:avLst/>
          </a:prstGeom>
          <a:solidFill>
            <a:srgbClr val="F3F5FA"/>
          </a:solidFill>
          <a:ln w="12700">
            <a:solidFill>
              <a:srgbClr val="DDE3EF"/>
            </a:solidFill>
            <a:prstDash val="solid"/>
          </a:ln>
        </p:spPr>
      </p:sp>
      <p:sp>
        <p:nvSpPr>
          <p:cNvPr id="13" name="Shape 10"/>
          <p:cNvSpPr/>
          <p:nvPr/>
        </p:nvSpPr>
        <p:spPr>
          <a:xfrm>
            <a:off x="4565904" y="1920240"/>
            <a:ext cx="548640" cy="548640"/>
          </a:xfrm>
          <a:prstGeom prst="ellipse">
            <a:avLst/>
          </a:prstGeom>
          <a:solidFill>
            <a:srgbClr val="1E2761"/>
          </a:solidFill>
          <a:ln w="12700">
            <a:solidFill>
              <a:srgbClr val="1E2761"/>
            </a:solidFill>
            <a:prstDash val="solid"/>
          </a:ln>
        </p:spPr>
      </p:sp>
      <p:pic>
        <p:nvPicPr>
          <p:cNvPr id="14" name="Image 1" descr="preencoded.png">    </p:cNvPr>
          <p:cNvPicPr>
            <a:picLocks noChangeAspect="1"/>
          </p:cNvPicPr>
          <p:nvPr/>
        </p:nvPicPr>
        <p:blipFill>
          <a:blip r:embed="rId2"/>
          <a:stretch>
            <a:fillRect/>
          </a:stretch>
        </p:blipFill>
        <p:spPr>
          <a:xfrm>
            <a:off x="4697578" y="2051914"/>
            <a:ext cx="285293" cy="285293"/>
          </a:xfrm>
          <a:prstGeom prst="rect">
            <a:avLst/>
          </a:prstGeom>
        </p:spPr>
      </p:pic>
      <p:sp>
        <p:nvSpPr>
          <p:cNvPr id="15" name="Text 11"/>
          <p:cNvSpPr/>
          <p:nvPr/>
        </p:nvSpPr>
        <p:spPr>
          <a:xfrm>
            <a:off x="6434328" y="2039112"/>
            <a:ext cx="1188720" cy="274320"/>
          </a:xfrm>
          <a:prstGeom prst="rect">
            <a:avLst/>
          </a:prstGeom>
          <a:noFill/>
          <a:ln/>
        </p:spPr>
        <p:txBody>
          <a:bodyPr wrap="square" lIns="0" tIns="0" rIns="0" bIns="0" rtlCol="0" anchor="ctr"/>
          <a:lstStyle/>
          <a:p>
            <a:pPr algn="r" indent="0" marL="0">
              <a:buNone/>
            </a:pPr>
            <a:r>
              <a:rPr lang="en-US" sz="900" b="1" dirty="0">
                <a:solidFill>
                  <a:srgbClr val="2E6B3F"/>
                </a:solidFill>
                <a:latin typeface="Calibri" pitchFamily="34" charset="0"/>
                <a:ea typeface="Calibri" pitchFamily="34" charset="-122"/>
                <a:cs typeface="Calibri" pitchFamily="34" charset="-120"/>
              </a:rPr>
              <a:t>Geography-free</a:t>
            </a:r>
            <a:endParaRPr lang="en-US" sz="900" dirty="0"/>
          </a:p>
        </p:txBody>
      </p:sp>
      <p:sp>
        <p:nvSpPr>
          <p:cNvPr id="16" name="Text 12"/>
          <p:cNvSpPr/>
          <p:nvPr/>
        </p:nvSpPr>
        <p:spPr>
          <a:xfrm>
            <a:off x="4565904" y="2560320"/>
            <a:ext cx="3057144" cy="685800"/>
          </a:xfrm>
          <a:prstGeom prst="rect">
            <a:avLst/>
          </a:prstGeom>
          <a:noFill/>
          <a:ln/>
        </p:spPr>
        <p:txBody>
          <a:bodyPr wrap="square" lIns="0" tIns="0" rIns="0" bIns="0" rtlCol="0" anchor="t"/>
          <a:lstStyle/>
          <a:p>
            <a:pPr indent="0" marL="0">
              <a:buNone/>
            </a:pPr>
            <a:r>
              <a:rPr lang="en-US" sz="1500" b="1" dirty="0">
                <a:solidFill>
                  <a:srgbClr val="1E2761"/>
                </a:solidFill>
                <a:latin typeface="Cambria" pitchFamily="34" charset="0"/>
                <a:ea typeface="Cambria" pitchFamily="34" charset="-122"/>
                <a:cs typeface="Cambria" pitchFamily="34" charset="-120"/>
              </a:rPr>
              <a:t>Cutoff check</a:t>
            </a:r>
            <a:endParaRPr lang="en-US" sz="1500" dirty="0"/>
          </a:p>
        </p:txBody>
      </p:sp>
      <p:sp>
        <p:nvSpPr>
          <p:cNvPr id="17" name="Text 13"/>
          <p:cNvSpPr/>
          <p:nvPr/>
        </p:nvSpPr>
        <p:spPr>
          <a:xfrm>
            <a:off x="4565904" y="3246120"/>
            <a:ext cx="3057144" cy="242316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What it does</a:t>
            </a:r>
            <a:endParaRPr lang="en-US" sz="1200" dirty="0"/>
          </a:p>
          <a:p>
            <a:pPr indent="0" marL="0">
              <a:spcAft>
                <a:spcPts val="800"/>
              </a:spcAft>
              <a:buNone/>
            </a:pPr>
            <a:r>
              <a:rPr lang="en-US" sz="1200" dirty="0">
                <a:solidFill>
                  <a:srgbClr val="24304A"/>
                </a:solidFill>
                <a:latin typeface="Calibri" pitchFamily="34" charset="0"/>
                <a:ea typeface="Calibri" pitchFamily="34" charset="-122"/>
                <a:cs typeface="Calibri" pitchFamily="34" charset="-120"/>
              </a:rPr>
              <a:t>User enters a threshold, a CDBG poverty rate or an ARC distress line, and the tool shows whether the confidence interval crosses it.</a:t>
            </a:r>
            <a:endParaRPr lang="en-US" sz="1200" dirty="0"/>
          </a:p>
          <a:p>
            <a:pPr indent="0" marL="0">
              <a:buNone/>
            </a:pPr>
            <a:r>
              <a:rPr lang="en-US" sz="1200" b="1" dirty="0">
                <a:solidFill>
                  <a:srgbClr val="1E2761"/>
                </a:solidFill>
                <a:latin typeface="Calibri" pitchFamily="34" charset="0"/>
                <a:ea typeface="Calibri" pitchFamily="34" charset="-122"/>
                <a:cs typeface="Calibri" pitchFamily="34" charset="-120"/>
              </a:rPr>
              <a:t>Why people may need it</a:t>
            </a:r>
            <a:endParaRPr lang="en-US" sz="1200" dirty="0"/>
          </a:p>
          <a:p>
            <a:pPr indent="0" marL="0">
              <a:buNone/>
            </a:pPr>
            <a:r>
              <a:rPr lang="en-US" sz="1200" dirty="0">
                <a:solidFill>
                  <a:srgbClr val="24304A"/>
                </a:solidFill>
                <a:latin typeface="Calibri" pitchFamily="34" charset="0"/>
                <a:ea typeface="Calibri" pitchFamily="34" charset="-122"/>
                <a:cs typeface="Calibri" pitchFamily="34" charset="-120"/>
              </a:rPr>
              <a:t>Program staff act on point estimates near cutoffs. HUD already has a written rule (MOE under half the estimate). Most programs have none.</a:t>
            </a:r>
            <a:endParaRPr lang="en-US" sz="1200" dirty="0"/>
          </a:p>
        </p:txBody>
      </p:sp>
      <p:sp>
        <p:nvSpPr>
          <p:cNvPr id="18" name="Shape 14"/>
          <p:cNvSpPr/>
          <p:nvPr/>
        </p:nvSpPr>
        <p:spPr>
          <a:xfrm>
            <a:off x="8125968" y="1691640"/>
            <a:ext cx="3514344" cy="4114800"/>
          </a:xfrm>
          <a:prstGeom prst="rect">
            <a:avLst/>
          </a:prstGeom>
          <a:solidFill>
            <a:srgbClr val="EEF1F8"/>
          </a:solidFill>
          <a:ln w="12700">
            <a:solidFill>
              <a:srgbClr val="DDE3EF"/>
            </a:solidFill>
            <a:prstDash val="solid"/>
          </a:ln>
        </p:spPr>
      </p:sp>
      <p:sp>
        <p:nvSpPr>
          <p:cNvPr id="19" name="Shape 15"/>
          <p:cNvSpPr/>
          <p:nvPr/>
        </p:nvSpPr>
        <p:spPr>
          <a:xfrm>
            <a:off x="8354568" y="1920240"/>
            <a:ext cx="548640" cy="548640"/>
          </a:xfrm>
          <a:prstGeom prst="ellipse">
            <a:avLst/>
          </a:prstGeom>
          <a:solidFill>
            <a:srgbClr val="1E2761"/>
          </a:solidFill>
          <a:ln w="12700">
            <a:solidFill>
              <a:srgbClr val="1E2761"/>
            </a:solidFill>
            <a:prstDash val="solid"/>
          </a:ln>
        </p:spPr>
      </p:sp>
      <p:pic>
        <p:nvPicPr>
          <p:cNvPr id="20" name="Image 2" descr="preencoded.png">    </p:cNvPr>
          <p:cNvPicPr>
            <a:picLocks noChangeAspect="1"/>
          </p:cNvPicPr>
          <p:nvPr/>
        </p:nvPicPr>
        <p:blipFill>
          <a:blip r:embed="rId3"/>
          <a:stretch>
            <a:fillRect/>
          </a:stretch>
        </p:blipFill>
        <p:spPr>
          <a:xfrm>
            <a:off x="8486242" y="2051914"/>
            <a:ext cx="285293" cy="285293"/>
          </a:xfrm>
          <a:prstGeom prst="rect">
            <a:avLst/>
          </a:prstGeom>
        </p:spPr>
      </p:pic>
      <p:sp>
        <p:nvSpPr>
          <p:cNvPr id="21" name="Text 16"/>
          <p:cNvSpPr/>
          <p:nvPr/>
        </p:nvSpPr>
        <p:spPr>
          <a:xfrm>
            <a:off x="10222992" y="2039112"/>
            <a:ext cx="1188720" cy="274320"/>
          </a:xfrm>
          <a:prstGeom prst="rect">
            <a:avLst/>
          </a:prstGeom>
          <a:noFill/>
          <a:ln/>
        </p:spPr>
        <p:txBody>
          <a:bodyPr wrap="square" lIns="0" tIns="0" rIns="0" bIns="0" rtlCol="0" anchor="ctr"/>
          <a:lstStyle/>
          <a:p>
            <a:pPr algn="r" indent="0" marL="0">
              <a:buNone/>
            </a:pPr>
            <a:r>
              <a:rPr lang="en-US" sz="900" b="1" dirty="0">
                <a:solidFill>
                  <a:srgbClr val="9A3B3B"/>
                </a:solidFill>
                <a:latin typeface="Calibri" pitchFamily="34" charset="0"/>
                <a:ea typeface="Calibri" pitchFamily="34" charset="-122"/>
                <a:cs typeface="Calibri" pitchFamily="34" charset="-120"/>
              </a:rPr>
              <a:t>County-bound</a:t>
            </a:r>
            <a:endParaRPr lang="en-US" sz="900" dirty="0"/>
          </a:p>
        </p:txBody>
      </p:sp>
      <p:sp>
        <p:nvSpPr>
          <p:cNvPr id="22" name="Text 17"/>
          <p:cNvSpPr/>
          <p:nvPr/>
        </p:nvSpPr>
        <p:spPr>
          <a:xfrm>
            <a:off x="8354568" y="2560320"/>
            <a:ext cx="3057144" cy="685800"/>
          </a:xfrm>
          <a:prstGeom prst="rect">
            <a:avLst/>
          </a:prstGeom>
          <a:noFill/>
          <a:ln/>
        </p:spPr>
        <p:txBody>
          <a:bodyPr wrap="square" lIns="0" tIns="0" rIns="0" bIns="0" rtlCol="0" anchor="t"/>
          <a:lstStyle/>
          <a:p>
            <a:pPr indent="0" marL="0">
              <a:buNone/>
            </a:pPr>
            <a:r>
              <a:rPr lang="en-US" sz="1500" b="1" dirty="0">
                <a:solidFill>
                  <a:srgbClr val="1E2761"/>
                </a:solidFill>
                <a:latin typeface="Cambria" pitchFamily="34" charset="0"/>
                <a:ea typeface="Cambria" pitchFamily="34" charset="-122"/>
                <a:cs typeface="Cambria" pitchFamily="34" charset="-120"/>
              </a:rPr>
              <a:t>Allocation view</a:t>
            </a:r>
            <a:endParaRPr lang="en-US" sz="1500" dirty="0"/>
          </a:p>
        </p:txBody>
      </p:sp>
      <p:sp>
        <p:nvSpPr>
          <p:cNvPr id="23" name="Text 18"/>
          <p:cNvSpPr/>
          <p:nvPr/>
        </p:nvSpPr>
        <p:spPr>
          <a:xfrm>
            <a:off x="8354568" y="3246120"/>
            <a:ext cx="3057144" cy="242316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What it does</a:t>
            </a:r>
            <a:endParaRPr lang="en-US" sz="1200" dirty="0"/>
          </a:p>
          <a:p>
            <a:pPr indent="0" marL="0">
              <a:spcAft>
                <a:spcPts val="800"/>
              </a:spcAft>
              <a:buNone/>
            </a:pPr>
            <a:r>
              <a:rPr lang="en-US" sz="1200" dirty="0">
                <a:solidFill>
                  <a:srgbClr val="24304A"/>
                </a:solidFill>
                <a:latin typeface="Calibri" pitchFamily="34" charset="0"/>
                <a:ea typeface="Calibri" pitchFamily="34" charset="-122"/>
                <a:cs typeface="Calibri" pitchFamily="34" charset="-120"/>
              </a:rPr>
              <a:t>How much of the estimate was imputed rather than reported: the B98 overall rate, which exists only at county, and per-table B99 rates. States plainly that no MOE exists for these.</a:t>
            </a:r>
            <a:endParaRPr lang="en-US" sz="1200" dirty="0"/>
          </a:p>
          <a:p>
            <a:pPr indent="0" marL="0">
              <a:buNone/>
            </a:pPr>
            <a:r>
              <a:rPr lang="en-US" sz="1200" b="1" dirty="0">
                <a:solidFill>
                  <a:srgbClr val="1E2761"/>
                </a:solidFill>
                <a:latin typeface="Calibri" pitchFamily="34" charset="0"/>
                <a:ea typeface="Calibri" pitchFamily="34" charset="-122"/>
                <a:cs typeface="Calibri" pitchFamily="34" charset="-120"/>
              </a:rPr>
              <a:t>Why people may need it</a:t>
            </a:r>
            <a:endParaRPr lang="en-US" sz="1200" dirty="0"/>
          </a:p>
          <a:p>
            <a:pPr indent="0" marL="0">
              <a:buNone/>
            </a:pPr>
            <a:r>
              <a:rPr lang="en-US" sz="1200" dirty="0">
                <a:solidFill>
                  <a:srgbClr val="24304A"/>
                </a:solidFill>
                <a:latin typeface="Calibri" pitchFamily="34" charset="0"/>
                <a:ea typeface="Calibri" pitchFamily="34" charset="-122"/>
                <a:cs typeface="Calibri" pitchFamily="34" charset="-120"/>
              </a:rPr>
              <a:t>The team found household income allocation at a median 39 percent per tract, independent of demographic imputation. No other tool shows it. This is the one thing only this dashboard would do.</a:t>
            </a:r>
            <a:endParaRPr lang="en-US" sz="1200" dirty="0"/>
          </a:p>
        </p:txBody>
      </p:sp>
      <p:sp>
        <p:nvSpPr>
          <p:cNvPr id="24" name="Text 19"/>
          <p:cNvSpPr/>
          <p:nvPr/>
        </p:nvSpPr>
        <p:spPr>
          <a:xfrm>
            <a:off x="548640" y="6355080"/>
            <a:ext cx="11091672" cy="27432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Sources: HUD income limits methodology; Esri 2025 methodology statement (12 and 40 percent CV bands); Census ACS Compass 15 percent caution; team Financial EDA, New Jersey 2024.</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Function ideas: extend reach, then later</a:t>
            </a:r>
            <a:endParaRPr lang="en-US" sz="3000" dirty="0"/>
          </a:p>
        </p:txBody>
      </p:sp>
      <p:sp>
        <p:nvSpPr>
          <p:cNvPr id="3" name="Text 1"/>
          <p:cNvSpPr/>
          <p:nvPr/>
        </p:nvSpPr>
        <p:spPr>
          <a:xfrm>
            <a:off x="548640" y="1078992"/>
            <a:ext cx="11091672" cy="457200"/>
          </a:xfrm>
          <a:prstGeom prst="rect">
            <a:avLst/>
          </a:prstGeom>
          <a:noFill/>
          <a:ln/>
        </p:spPr>
        <p:txBody>
          <a:bodyPr wrap="square" lIns="0" tIns="0" rIns="0" bIns="0" rtlCol="0" anchor="ctr"/>
          <a:lstStyle/>
          <a:p>
            <a:pPr indent="0" marL="0">
              <a:buNone/>
            </a:pPr>
            <a:r>
              <a:rPr lang="en-US" sz="1500" i="1" dirty="0">
                <a:solidFill>
                  <a:srgbClr val="5A6478"/>
                </a:solidFill>
                <a:latin typeface="Calibri" pitchFamily="34" charset="0"/>
                <a:ea typeface="Calibri" pitchFamily="34" charset="-122"/>
                <a:cs typeface="Calibri" pitchFamily="34" charset="-120"/>
              </a:rPr>
              <a:t>Two that push county evidence downward, one for the end of the workflow.</a:t>
            </a:r>
            <a:endParaRPr lang="en-US" sz="1500" dirty="0"/>
          </a:p>
        </p:txBody>
      </p:sp>
      <p:sp>
        <p:nvSpPr>
          <p:cNvPr id="4" name="Shape 2"/>
          <p:cNvSpPr/>
          <p:nvPr/>
        </p:nvSpPr>
        <p:spPr>
          <a:xfrm>
            <a:off x="9811512" y="502920"/>
            <a:ext cx="1828800" cy="274320"/>
          </a:xfrm>
          <a:prstGeom prst="roundRect">
            <a:avLst>
              <a:gd name="adj" fmla="val 50000"/>
            </a:avLst>
          </a:prstGeom>
          <a:solidFill>
            <a:srgbClr val="C8A951"/>
          </a:solidFill>
          <a:ln w="12700">
            <a:solidFill>
              <a:srgbClr val="C8A951"/>
            </a:solidFill>
            <a:prstDash val="solid"/>
          </a:ln>
        </p:spPr>
      </p:sp>
      <p:sp>
        <p:nvSpPr>
          <p:cNvPr id="5" name="Text 3"/>
          <p:cNvSpPr/>
          <p:nvPr/>
        </p:nvSpPr>
        <p:spPr>
          <a:xfrm>
            <a:off x="9811512" y="502920"/>
            <a:ext cx="1828800" cy="274320"/>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Ideas, not scope</a:t>
            </a:r>
            <a:endParaRPr lang="en-US" sz="1000" dirty="0"/>
          </a:p>
        </p:txBody>
      </p:sp>
      <p:sp>
        <p:nvSpPr>
          <p:cNvPr id="6" name="Shape 4"/>
          <p:cNvSpPr/>
          <p:nvPr/>
        </p:nvSpPr>
        <p:spPr>
          <a:xfrm>
            <a:off x="548640" y="1691640"/>
            <a:ext cx="3514344" cy="4114800"/>
          </a:xfrm>
          <a:prstGeom prst="rect">
            <a:avLst/>
          </a:prstGeom>
          <a:solidFill>
            <a:srgbClr val="EEF1F8"/>
          </a:solidFill>
          <a:ln w="12700">
            <a:solidFill>
              <a:srgbClr val="DDE3EF"/>
            </a:solidFill>
            <a:prstDash val="solid"/>
          </a:ln>
        </p:spPr>
      </p:sp>
      <p:sp>
        <p:nvSpPr>
          <p:cNvPr id="7" name="Shape 5"/>
          <p:cNvSpPr/>
          <p:nvPr/>
        </p:nvSpPr>
        <p:spPr>
          <a:xfrm>
            <a:off x="777240" y="1920240"/>
            <a:ext cx="548640" cy="548640"/>
          </a:xfrm>
          <a:prstGeom prst="ellipse">
            <a:avLst/>
          </a:prstGeom>
          <a:solidFill>
            <a:srgbClr val="1E2761"/>
          </a:solidFill>
          <a:ln w="12700">
            <a:solidFill>
              <a:srgbClr val="1E2761"/>
            </a:solidFill>
            <a:prstDash val="solid"/>
          </a:ln>
        </p:spPr>
      </p:sp>
      <p:pic>
        <p:nvPicPr>
          <p:cNvPr id="8" name="Image 0" descr="preencoded.png">    </p:cNvPr>
          <p:cNvPicPr>
            <a:picLocks noChangeAspect="1"/>
          </p:cNvPicPr>
          <p:nvPr/>
        </p:nvPicPr>
        <p:blipFill>
          <a:blip r:embed="rId1"/>
          <a:stretch>
            <a:fillRect/>
          </a:stretch>
        </p:blipFill>
        <p:spPr>
          <a:xfrm>
            <a:off x="908914" y="2051914"/>
            <a:ext cx="285293" cy="285293"/>
          </a:xfrm>
          <a:prstGeom prst="rect">
            <a:avLst/>
          </a:prstGeom>
        </p:spPr>
      </p:pic>
      <p:sp>
        <p:nvSpPr>
          <p:cNvPr id="9" name="Text 6"/>
          <p:cNvSpPr/>
          <p:nvPr/>
        </p:nvSpPr>
        <p:spPr>
          <a:xfrm>
            <a:off x="2645664" y="2039112"/>
            <a:ext cx="1188720" cy="274320"/>
          </a:xfrm>
          <a:prstGeom prst="rect">
            <a:avLst/>
          </a:prstGeom>
          <a:noFill/>
          <a:ln/>
        </p:spPr>
        <p:txBody>
          <a:bodyPr wrap="square" lIns="0" tIns="0" rIns="0" bIns="0" rtlCol="0" anchor="ctr"/>
          <a:lstStyle/>
          <a:p>
            <a:pPr algn="r" indent="0" marL="0">
              <a:buNone/>
            </a:pPr>
            <a:r>
              <a:rPr lang="en-US" sz="900" b="1" dirty="0">
                <a:solidFill>
                  <a:srgbClr val="8A6D1F"/>
                </a:solidFill>
                <a:latin typeface="Calibri" pitchFamily="34" charset="0"/>
                <a:ea typeface="Calibri" pitchFamily="34" charset="-122"/>
                <a:cs typeface="Calibri" pitchFamily="34" charset="-120"/>
              </a:rPr>
              <a:t>Partial</a:t>
            </a:r>
            <a:endParaRPr lang="en-US" sz="900" dirty="0"/>
          </a:p>
        </p:txBody>
      </p:sp>
      <p:sp>
        <p:nvSpPr>
          <p:cNvPr id="10" name="Text 7"/>
          <p:cNvSpPr/>
          <p:nvPr/>
        </p:nvSpPr>
        <p:spPr>
          <a:xfrm>
            <a:off x="777240" y="2560320"/>
            <a:ext cx="3057144" cy="685800"/>
          </a:xfrm>
          <a:prstGeom prst="rect">
            <a:avLst/>
          </a:prstGeom>
          <a:noFill/>
          <a:ln/>
        </p:spPr>
        <p:txBody>
          <a:bodyPr wrap="square" lIns="0" tIns="0" rIns="0" bIns="0" rtlCol="0" anchor="t"/>
          <a:lstStyle/>
          <a:p>
            <a:pPr indent="0" marL="0">
              <a:buNone/>
            </a:pPr>
            <a:r>
              <a:rPr lang="en-US" sz="1500" b="1" dirty="0">
                <a:solidFill>
                  <a:srgbClr val="1E2761"/>
                </a:solidFill>
                <a:latin typeface="Cambria" pitchFamily="34" charset="0"/>
                <a:ea typeface="Cambria" pitchFamily="34" charset="-122"/>
                <a:cs typeface="Cambria" pitchFamily="34" charset="-120"/>
              </a:rPr>
              <a:t>Reliability-floor model</a:t>
            </a:r>
            <a:endParaRPr lang="en-US" sz="1500" dirty="0"/>
          </a:p>
        </p:txBody>
      </p:sp>
      <p:sp>
        <p:nvSpPr>
          <p:cNvPr id="11" name="Text 8"/>
          <p:cNvSpPr/>
          <p:nvPr/>
        </p:nvSpPr>
        <p:spPr>
          <a:xfrm>
            <a:off x="777240" y="3246120"/>
            <a:ext cx="3057144" cy="242316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What it does</a:t>
            </a:r>
            <a:endParaRPr lang="en-US" sz="1200" dirty="0"/>
          </a:p>
          <a:p>
            <a:pPr indent="0" marL="0">
              <a:spcAft>
                <a:spcPts val="800"/>
              </a:spcAft>
              <a:buNone/>
            </a:pPr>
            <a:r>
              <a:rPr lang="en-US" sz="1200" dirty="0">
                <a:solidFill>
                  <a:srgbClr val="24304A"/>
                </a:solidFill>
                <a:latin typeface="Calibri" pitchFamily="34" charset="0"/>
                <a:ea typeface="Calibri" pitchFamily="34" charset="-122"/>
                <a:cs typeface="Calibri" pitchFamily="34" charset="-120"/>
              </a:rPr>
              <a:t>Enter an estimate size, get an expected CV from the EDA 07 relationship (R-squared 0.67 on estimate size). Labeled as a prediction, not a measurement.</a:t>
            </a:r>
            <a:endParaRPr lang="en-US" sz="1200" dirty="0"/>
          </a:p>
          <a:p>
            <a:pPr indent="0" marL="0">
              <a:buNone/>
            </a:pPr>
            <a:r>
              <a:rPr lang="en-US" sz="1200" b="1" dirty="0">
                <a:solidFill>
                  <a:srgbClr val="1E2761"/>
                </a:solidFill>
                <a:latin typeface="Calibri" pitchFamily="34" charset="0"/>
                <a:ea typeface="Calibri" pitchFamily="34" charset="-122"/>
                <a:cs typeface="Calibri" pitchFamily="34" charset="-120"/>
              </a:rPr>
              <a:t>Why people may need it</a:t>
            </a:r>
            <a:endParaRPr lang="en-US" sz="1200" dirty="0"/>
          </a:p>
          <a:p>
            <a:pPr indent="0" marL="0">
              <a:buNone/>
            </a:pPr>
            <a:r>
              <a:rPr lang="en-US" sz="1200" dirty="0">
                <a:solidFill>
                  <a:srgbClr val="24304A"/>
                </a:solidFill>
                <a:latin typeface="Calibri" pitchFamily="34" charset="0"/>
                <a:ea typeface="Calibri" pitchFamily="34" charset="-122"/>
                <a:cs typeface="Calibri" pitchFamily="34" charset="-120"/>
              </a:rPr>
              <a:t>Gives a tract user a defensible expectation for a geography the tool does not hold. Needs validation on real tract MOEs first; the income-only fit was R-squared 0.01.</a:t>
            </a:r>
            <a:endParaRPr lang="en-US" sz="1200" dirty="0"/>
          </a:p>
        </p:txBody>
      </p:sp>
      <p:sp>
        <p:nvSpPr>
          <p:cNvPr id="12" name="Shape 9"/>
          <p:cNvSpPr/>
          <p:nvPr/>
        </p:nvSpPr>
        <p:spPr>
          <a:xfrm>
            <a:off x="4337304" y="1691640"/>
            <a:ext cx="3514344" cy="4114800"/>
          </a:xfrm>
          <a:prstGeom prst="rect">
            <a:avLst/>
          </a:prstGeom>
          <a:solidFill>
            <a:srgbClr val="F3F5FA"/>
          </a:solidFill>
          <a:ln w="12700">
            <a:solidFill>
              <a:srgbClr val="DDE3EF"/>
            </a:solidFill>
            <a:prstDash val="solid"/>
          </a:ln>
        </p:spPr>
      </p:sp>
      <p:sp>
        <p:nvSpPr>
          <p:cNvPr id="13" name="Shape 10"/>
          <p:cNvSpPr/>
          <p:nvPr/>
        </p:nvSpPr>
        <p:spPr>
          <a:xfrm>
            <a:off x="4565904" y="1920240"/>
            <a:ext cx="548640" cy="548640"/>
          </a:xfrm>
          <a:prstGeom prst="ellipse">
            <a:avLst/>
          </a:prstGeom>
          <a:solidFill>
            <a:srgbClr val="1E2761"/>
          </a:solidFill>
          <a:ln w="12700">
            <a:solidFill>
              <a:srgbClr val="1E2761"/>
            </a:solidFill>
            <a:prstDash val="solid"/>
          </a:ln>
        </p:spPr>
      </p:sp>
      <p:pic>
        <p:nvPicPr>
          <p:cNvPr id="14" name="Image 1" descr="preencoded.png">    </p:cNvPr>
          <p:cNvPicPr>
            <a:picLocks noChangeAspect="1"/>
          </p:cNvPicPr>
          <p:nvPr/>
        </p:nvPicPr>
        <p:blipFill>
          <a:blip r:embed="rId2"/>
          <a:stretch>
            <a:fillRect/>
          </a:stretch>
        </p:blipFill>
        <p:spPr>
          <a:xfrm>
            <a:off x="4697578" y="2051914"/>
            <a:ext cx="285293" cy="285293"/>
          </a:xfrm>
          <a:prstGeom prst="rect">
            <a:avLst/>
          </a:prstGeom>
        </p:spPr>
      </p:pic>
      <p:sp>
        <p:nvSpPr>
          <p:cNvPr id="15" name="Text 11"/>
          <p:cNvSpPr/>
          <p:nvPr/>
        </p:nvSpPr>
        <p:spPr>
          <a:xfrm>
            <a:off x="6434328" y="2039112"/>
            <a:ext cx="1188720" cy="274320"/>
          </a:xfrm>
          <a:prstGeom prst="rect">
            <a:avLst/>
          </a:prstGeom>
          <a:noFill/>
          <a:ln/>
        </p:spPr>
        <p:txBody>
          <a:bodyPr wrap="square" lIns="0" tIns="0" rIns="0" bIns="0" rtlCol="0" anchor="ctr"/>
          <a:lstStyle/>
          <a:p>
            <a:pPr algn="r" indent="0" marL="0">
              <a:buNone/>
            </a:pPr>
            <a:r>
              <a:rPr lang="en-US" sz="900" b="1" dirty="0">
                <a:solidFill>
                  <a:srgbClr val="2E6B3F"/>
                </a:solidFill>
                <a:latin typeface="Calibri" pitchFamily="34" charset="0"/>
                <a:ea typeface="Calibri" pitchFamily="34" charset="-122"/>
                <a:cs typeface="Calibri" pitchFamily="34" charset="-120"/>
              </a:rPr>
              <a:t>Geography-free</a:t>
            </a:r>
            <a:endParaRPr lang="en-US" sz="900" dirty="0"/>
          </a:p>
        </p:txBody>
      </p:sp>
      <p:sp>
        <p:nvSpPr>
          <p:cNvPr id="16" name="Text 12"/>
          <p:cNvSpPr/>
          <p:nvPr/>
        </p:nvSpPr>
        <p:spPr>
          <a:xfrm>
            <a:off x="4565904" y="2560320"/>
            <a:ext cx="3057144" cy="685800"/>
          </a:xfrm>
          <a:prstGeom prst="rect">
            <a:avLst/>
          </a:prstGeom>
          <a:noFill/>
          <a:ln/>
        </p:spPr>
        <p:txBody>
          <a:bodyPr wrap="square" lIns="0" tIns="0" rIns="0" bIns="0" rtlCol="0" anchor="t"/>
          <a:lstStyle/>
          <a:p>
            <a:pPr indent="0" marL="0">
              <a:buNone/>
            </a:pPr>
            <a:r>
              <a:rPr lang="en-US" sz="1500" b="1" dirty="0">
                <a:solidFill>
                  <a:srgbClr val="1E2761"/>
                </a:solidFill>
                <a:latin typeface="Cambria" pitchFamily="34" charset="0"/>
                <a:ea typeface="Cambria" pitchFamily="34" charset="-122"/>
                <a:cs typeface="Cambria" pitchFamily="34" charset="-120"/>
              </a:rPr>
              <a:t>Aggregation explainer</a:t>
            </a:r>
            <a:endParaRPr lang="en-US" sz="1500" dirty="0"/>
          </a:p>
        </p:txBody>
      </p:sp>
      <p:sp>
        <p:nvSpPr>
          <p:cNvPr id="17" name="Text 13"/>
          <p:cNvSpPr/>
          <p:nvPr/>
        </p:nvSpPr>
        <p:spPr>
          <a:xfrm>
            <a:off x="4565904" y="3246120"/>
            <a:ext cx="3057144" cy="242316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What it does</a:t>
            </a:r>
            <a:endParaRPr lang="en-US" sz="1200" dirty="0"/>
          </a:p>
          <a:p>
            <a:pPr indent="0" marL="0">
              <a:spcAft>
                <a:spcPts val="800"/>
              </a:spcAft>
              <a:buNone/>
            </a:pPr>
            <a:r>
              <a:rPr lang="en-US" sz="1200" dirty="0">
                <a:solidFill>
                  <a:srgbClr val="24304A"/>
                </a:solidFill>
                <a:latin typeface="Calibri" pitchFamily="34" charset="0"/>
                <a:ea typeface="Calibri" pitchFamily="34" charset="-122"/>
                <a:cs typeface="Calibri" pitchFamily="34" charset="-120"/>
              </a:rPr>
              <a:t>A worked example: two tracts merged, the combined estimate, the combined MOE, the CV before and after. Grounded in Spielman and Folch regionalization.</a:t>
            </a:r>
            <a:endParaRPr lang="en-US" sz="1200" dirty="0"/>
          </a:p>
          <a:p>
            <a:pPr indent="0" marL="0">
              <a:buNone/>
            </a:pPr>
            <a:r>
              <a:rPr lang="en-US" sz="1200" b="1" dirty="0">
                <a:solidFill>
                  <a:srgbClr val="1E2761"/>
                </a:solidFill>
                <a:latin typeface="Calibri" pitchFamily="34" charset="0"/>
                <a:ea typeface="Calibri" pitchFamily="34" charset="-122"/>
                <a:cs typeface="Calibri" pitchFamily="34" charset="-120"/>
              </a:rPr>
              <a:t>Why people may need it</a:t>
            </a:r>
            <a:endParaRPr lang="en-US" sz="1200" dirty="0"/>
          </a:p>
          <a:p>
            <a:pPr indent="0" marL="0">
              <a:buNone/>
            </a:pPr>
            <a:r>
              <a:rPr lang="en-US" sz="1200" dirty="0">
                <a:solidFill>
                  <a:srgbClr val="24304A"/>
                </a:solidFill>
                <a:latin typeface="Calibri" pitchFamily="34" charset="0"/>
                <a:ea typeface="Calibri" pitchFamily="34" charset="-122"/>
                <a:cs typeface="Calibri" pitchFamily="34" charset="-120"/>
              </a:rPr>
              <a:t>Answers the planner's question of how many tracts to combine before the number is usable. Academics and health-index builders ask the same thing of block groups.</a:t>
            </a:r>
            <a:endParaRPr lang="en-US" sz="1200" dirty="0"/>
          </a:p>
        </p:txBody>
      </p:sp>
      <p:sp>
        <p:nvSpPr>
          <p:cNvPr id="18" name="Shape 14"/>
          <p:cNvSpPr/>
          <p:nvPr/>
        </p:nvSpPr>
        <p:spPr>
          <a:xfrm>
            <a:off x="8125968" y="1691640"/>
            <a:ext cx="3514344" cy="4114800"/>
          </a:xfrm>
          <a:prstGeom prst="rect">
            <a:avLst/>
          </a:prstGeom>
          <a:solidFill>
            <a:srgbClr val="EEF1F8"/>
          </a:solidFill>
          <a:ln w="12700">
            <a:solidFill>
              <a:srgbClr val="DDE3EF"/>
            </a:solidFill>
            <a:prstDash val="solid"/>
          </a:ln>
        </p:spPr>
      </p:sp>
      <p:sp>
        <p:nvSpPr>
          <p:cNvPr id="19" name="Shape 15"/>
          <p:cNvSpPr/>
          <p:nvPr/>
        </p:nvSpPr>
        <p:spPr>
          <a:xfrm>
            <a:off x="8354568" y="1920240"/>
            <a:ext cx="548640" cy="548640"/>
          </a:xfrm>
          <a:prstGeom prst="ellipse">
            <a:avLst/>
          </a:prstGeom>
          <a:solidFill>
            <a:srgbClr val="1E2761"/>
          </a:solidFill>
          <a:ln w="12700">
            <a:solidFill>
              <a:srgbClr val="1E2761"/>
            </a:solidFill>
            <a:prstDash val="solid"/>
          </a:ln>
        </p:spPr>
      </p:sp>
      <p:pic>
        <p:nvPicPr>
          <p:cNvPr id="20" name="Image 2" descr="preencoded.png">    </p:cNvPr>
          <p:cNvPicPr>
            <a:picLocks noChangeAspect="1"/>
          </p:cNvPicPr>
          <p:nvPr/>
        </p:nvPicPr>
        <p:blipFill>
          <a:blip r:embed="rId3"/>
          <a:stretch>
            <a:fillRect/>
          </a:stretch>
        </p:blipFill>
        <p:spPr>
          <a:xfrm>
            <a:off x="8486242" y="2051914"/>
            <a:ext cx="285293" cy="285293"/>
          </a:xfrm>
          <a:prstGeom prst="rect">
            <a:avLst/>
          </a:prstGeom>
        </p:spPr>
      </p:pic>
      <p:sp>
        <p:nvSpPr>
          <p:cNvPr id="21" name="Text 16"/>
          <p:cNvSpPr/>
          <p:nvPr/>
        </p:nvSpPr>
        <p:spPr>
          <a:xfrm>
            <a:off x="10222992" y="2039112"/>
            <a:ext cx="1188720" cy="274320"/>
          </a:xfrm>
          <a:prstGeom prst="rect">
            <a:avLst/>
          </a:prstGeom>
          <a:noFill/>
          <a:ln/>
        </p:spPr>
        <p:txBody>
          <a:bodyPr wrap="square" lIns="0" tIns="0" rIns="0" bIns="0" rtlCol="0" anchor="ctr"/>
          <a:lstStyle/>
          <a:p>
            <a:pPr algn="r" indent="0" marL="0">
              <a:buNone/>
            </a:pPr>
            <a:r>
              <a:rPr lang="en-US" sz="900" b="1" dirty="0">
                <a:solidFill>
                  <a:srgbClr val="2E6B3F"/>
                </a:solidFill>
                <a:latin typeface="Calibri" pitchFamily="34" charset="0"/>
                <a:ea typeface="Calibri" pitchFamily="34" charset="-122"/>
                <a:cs typeface="Calibri" pitchFamily="34" charset="-120"/>
              </a:rPr>
              <a:t>Geography-free</a:t>
            </a:r>
            <a:endParaRPr lang="en-US" sz="900" dirty="0"/>
          </a:p>
        </p:txBody>
      </p:sp>
      <p:sp>
        <p:nvSpPr>
          <p:cNvPr id="22" name="Text 17"/>
          <p:cNvSpPr/>
          <p:nvPr/>
        </p:nvSpPr>
        <p:spPr>
          <a:xfrm>
            <a:off x="8354568" y="2560320"/>
            <a:ext cx="3057144" cy="685800"/>
          </a:xfrm>
          <a:prstGeom prst="rect">
            <a:avLst/>
          </a:prstGeom>
          <a:noFill/>
          <a:ln/>
        </p:spPr>
        <p:txBody>
          <a:bodyPr wrap="square" lIns="0" tIns="0" rIns="0" bIns="0" rtlCol="0" anchor="t"/>
          <a:lstStyle/>
          <a:p>
            <a:pPr indent="0" marL="0">
              <a:buNone/>
            </a:pPr>
            <a:r>
              <a:rPr lang="en-US" sz="1500" b="1" dirty="0">
                <a:solidFill>
                  <a:srgbClr val="1E2761"/>
                </a:solidFill>
                <a:latin typeface="Cambria" pitchFamily="34" charset="0"/>
                <a:ea typeface="Cambria" pitchFamily="34" charset="-122"/>
                <a:cs typeface="Cambria" pitchFamily="34" charset="-120"/>
              </a:rPr>
              <a:t>Publishable sentence and citation</a:t>
            </a:r>
            <a:endParaRPr lang="en-US" sz="1500" dirty="0"/>
          </a:p>
        </p:txBody>
      </p:sp>
      <p:sp>
        <p:nvSpPr>
          <p:cNvPr id="23" name="Text 18"/>
          <p:cNvSpPr/>
          <p:nvPr/>
        </p:nvSpPr>
        <p:spPr>
          <a:xfrm>
            <a:off x="8354568" y="3246120"/>
            <a:ext cx="3057144" cy="242316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What it does</a:t>
            </a:r>
            <a:endParaRPr lang="en-US" sz="1200" dirty="0"/>
          </a:p>
          <a:p>
            <a:pPr indent="0" marL="0">
              <a:spcAft>
                <a:spcPts val="800"/>
              </a:spcAft>
              <a:buNone/>
            </a:pPr>
            <a:r>
              <a:rPr lang="en-US" sz="1200" dirty="0">
                <a:solidFill>
                  <a:srgbClr val="24304A"/>
                </a:solidFill>
                <a:latin typeface="Calibri" pitchFamily="34" charset="0"/>
                <a:ea typeface="Calibri" pitchFamily="34" charset="-122"/>
                <a:cs typeface="Calibri" pitchFamily="34" charset="-120"/>
              </a:rPr>
              <a:t>One generated sentence describing the estimate and its uncertainty in plain language, plus table, vintage, and formula in a citation line.</a:t>
            </a:r>
            <a:endParaRPr lang="en-US" sz="1200" dirty="0"/>
          </a:p>
          <a:p>
            <a:pPr indent="0" marL="0">
              <a:buNone/>
            </a:pPr>
            <a:r>
              <a:rPr lang="en-US" sz="1200" b="1" dirty="0">
                <a:solidFill>
                  <a:srgbClr val="1E2761"/>
                </a:solidFill>
                <a:latin typeface="Calibri" pitchFamily="34" charset="0"/>
                <a:ea typeface="Calibri" pitchFamily="34" charset="-122"/>
                <a:cs typeface="Calibri" pitchFamily="34" charset="-120"/>
              </a:rPr>
              <a:t>Why people may need it</a:t>
            </a:r>
            <a:endParaRPr lang="en-US" sz="1200" dirty="0"/>
          </a:p>
          <a:p>
            <a:pPr indent="0" marL="0">
              <a:buNone/>
            </a:pPr>
            <a:r>
              <a:rPr lang="en-US" sz="1200" dirty="0">
                <a:solidFill>
                  <a:srgbClr val="24304A"/>
                </a:solidFill>
                <a:latin typeface="Calibri" pitchFamily="34" charset="0"/>
                <a:ea typeface="Calibri" pitchFamily="34" charset="-122"/>
                <a:cs typeface="Calibri" pitchFamily="34" charset="-120"/>
              </a:rPr>
              <a:t>Planners need footnote text. Reporters need a sentence that survives an editor. Community groups need grant language. Cheap once the card and the test exist.</a:t>
            </a:r>
            <a:endParaRPr lang="en-US" sz="1200" dirty="0"/>
          </a:p>
        </p:txBody>
      </p:sp>
      <p:sp>
        <p:nvSpPr>
          <p:cNvPr id="24" name="Text 19"/>
          <p:cNvSpPr/>
          <p:nvPr/>
        </p:nvSpPr>
        <p:spPr>
          <a:xfrm>
            <a:off x="548640" y="6355080"/>
            <a:ext cx="11091672" cy="27432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Sources: team EDA 07; Spielman and Folch, PLOS ONE 2015; Jurjevich et al. 2018 (report MOEs and indicate when not reporting them).</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11480"/>
            <a:ext cx="11091672"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the evidence does not settle</a:t>
            </a:r>
            <a:endParaRPr lang="en-US" sz="3000" dirty="0"/>
          </a:p>
        </p:txBody>
      </p:sp>
      <p:sp>
        <p:nvSpPr>
          <p:cNvPr id="3" name="Text 1"/>
          <p:cNvSpPr/>
          <p:nvPr/>
        </p:nvSpPr>
        <p:spPr>
          <a:xfrm>
            <a:off x="548640" y="1078992"/>
            <a:ext cx="11091672" cy="457200"/>
          </a:xfrm>
          <a:prstGeom prst="rect">
            <a:avLst/>
          </a:prstGeom>
          <a:noFill/>
          <a:ln/>
        </p:spPr>
        <p:txBody>
          <a:bodyPr wrap="square" lIns="0" tIns="0" rIns="0" bIns="0" rtlCol="0" anchor="ctr"/>
          <a:lstStyle/>
          <a:p>
            <a:pPr indent="0" marL="0">
              <a:buNone/>
            </a:pPr>
            <a:r>
              <a:rPr lang="en-US" sz="1500" i="1" dirty="0">
                <a:solidFill>
                  <a:srgbClr val="C9D1E6"/>
                </a:solidFill>
                <a:latin typeface="Calibri" pitchFamily="34" charset="0"/>
                <a:ea typeface="Calibri" pitchFamily="34" charset="-122"/>
                <a:cs typeface="Calibri" pitchFamily="34" charset="-120"/>
              </a:rPr>
              <a:t>Scoping calls for the group, with the cheapest way to get an answer.</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4480560"/>
                <a:gridCol w="3108960"/>
                <a:gridCol w="3502152"/>
              </a:tblGrid>
              <a:tr h="566928">
                <a:tc>
                  <a:txBody>
                    <a:bodyPr/>
                    <a:lstStyle/>
                    <a:p>
                      <a:pPr indent="0" marL="0">
                        <a:buNone/>
                      </a:pPr>
                      <a:r>
                        <a:rPr lang="en-US" sz="1150" b="1" dirty="0">
                          <a:solidFill>
                            <a:srgbClr val="C8A951"/>
                          </a:solidFill>
                          <a:latin typeface="Calibri" pitchFamily="34" charset="0"/>
                          <a:ea typeface="Calibri" pitchFamily="34" charset="-122"/>
                          <a:cs typeface="Calibri" pitchFamily="34" charset="-120"/>
                        </a:rPr>
                        <a:t>Open question</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141B3D"/>
                    </a:solidFill>
                  </a:tcPr>
                </a:tc>
                <a:tc>
                  <a:txBody>
                    <a:bodyPr/>
                    <a:lstStyle/>
                    <a:p>
                      <a:pPr indent="0" marL="0">
                        <a:buNone/>
                      </a:pPr>
                      <a:r>
                        <a:rPr lang="en-US" sz="1150" b="1" dirty="0">
                          <a:solidFill>
                            <a:srgbClr val="C8A951"/>
                          </a:solidFill>
                          <a:latin typeface="Calibri" pitchFamily="34" charset="0"/>
                          <a:ea typeface="Calibri" pitchFamily="34" charset="-122"/>
                          <a:cs typeface="Calibri" pitchFamily="34" charset="-120"/>
                        </a:rPr>
                        <a:t>Cheapest way to settle it</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141B3D"/>
                    </a:solidFill>
                  </a:tcPr>
                </a:tc>
                <a:tc>
                  <a:txBody>
                    <a:bodyPr/>
                    <a:lstStyle/>
                    <a:p>
                      <a:pPr indent="0" marL="0">
                        <a:buNone/>
                      </a:pPr>
                      <a:r>
                        <a:rPr lang="en-US" sz="1150" b="1" dirty="0">
                          <a:solidFill>
                            <a:srgbClr val="C8A951"/>
                          </a:solidFill>
                          <a:latin typeface="Calibri" pitchFamily="34" charset="0"/>
                          <a:ea typeface="Calibri" pitchFamily="34" charset="-122"/>
                          <a:cs typeface="Calibri" pitchFamily="34" charset="-120"/>
                        </a:rPr>
                        <a:t>Why it matters</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141B3D"/>
                    </a:solidFill>
                  </a:tcPr>
                </a:tc>
              </a:tr>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Will Tier 2 users paste their own numbers, or stay in tidycensus and Esri?</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660"/>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A small usability test with five to eight sub-county users</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660"/>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Decides whether bring-your-own-numbers is the bridge or a dead end</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660"/>
                    </a:solidFill>
                  </a:tcPr>
                </a:tc>
              </a:tr>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Do journalists report ACS margins at all?</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660"/>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Two-week content analysis, 150 to 200 stories</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660"/>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Decides whether journalist features get built</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660"/>
                    </a:solidFill>
                  </a:tcPr>
                </a:tc>
              </a:tr>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Does anyone want one combined reliability label rather than two numbers side by side?</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660"/>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Structured interviews with 8 to 12 county and health users</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660"/>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Sponsor Q2 has no user evidence anywhere; this is the only tie-breaker</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660"/>
                    </a:solidFill>
                  </a:tcPr>
                </a:tc>
              </a:tr>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Does the reliability-floor model hold below county?</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660"/>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Re-run EDA 07 on one state's tract MOEs</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660"/>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Decides whether the model ships as a feature or stays an analysis note</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660"/>
                    </a:solidFill>
                  </a:tcPr>
                </a:tc>
              </a:tr>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Which CV thresholds: Esri's 12 and 40, Census 15, or the planner 15 and 30?</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660"/>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Pick one and name it on the card</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660"/>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Interacts with the tier-label decision already tabled</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660"/>
                    </a:solidFill>
                  </a:tcPr>
                </a:tc>
              </a:tr>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Is public health a first-class segment?</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660"/>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Track County Health Rankings' 2026 release status</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660"/>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CHR paused its annual release in 2026; the segment's stability is uncertain</a:t>
                      </a:r>
                      <a:endParaRPr lang="en-US" sz="1150" dirty="0">
                        <a:latin typeface="Calibri" charset="0"/>
                        <a:ea typeface="Calibri" charset="0"/>
                        <a:cs typeface="Calibri" charset="0"/>
                      </a:endParaRPr>
                    </a:p>
                  </a:txBody>
                  <a:tcPr marL="73152" marR="73152" marT="73152" marB="73152"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660"/>
                    </a:solidFill>
                  </a:tcPr>
                </a:tc>
              </a:tr>
            </a:tbl>
          </a:graphicData>
        </a:graphic>
      </p:graphicFrame>
      <p:sp>
        <p:nvSpPr>
          <p:cNvPr id="5" name="Text 2"/>
          <p:cNvSpPr/>
          <p:nvPr/>
        </p:nvSpPr>
        <p:spPr>
          <a:xfrm>
            <a:off x="548640" y="6355080"/>
            <a:ext cx="11091672" cy="274320"/>
          </a:xfrm>
          <a:prstGeom prst="rect">
            <a:avLst/>
          </a:prstGeom>
          <a:noFill/>
          <a:ln/>
        </p:spPr>
        <p:txBody>
          <a:bodyPr wrap="square" lIns="0" tIns="0" rIns="0" bIns="0" rtlCol="0" anchor="ctr"/>
          <a:lstStyle/>
          <a:p>
            <a:pPr indent="0" marL="0">
              <a:buNone/>
            </a:pPr>
            <a:r>
              <a:rPr lang="en-US" sz="950" dirty="0">
                <a:solidFill>
                  <a:srgbClr val="8F9BB8"/>
                </a:solidFill>
                <a:latin typeface="Calibri" pitchFamily="34" charset="0"/>
                <a:ea typeface="Calibri" pitchFamily="34" charset="-122"/>
                <a:cs typeface="Calibri" pitchFamily="34" charset="-120"/>
              </a:rPr>
              <a:t>Nothing on this slide is a team decision. Function lists come from documented pain, not user testing.</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BB66CD166328F42A00FF49369C081BB" ma:contentTypeVersion="3" ma:contentTypeDescription="Create a new document." ma:contentTypeScope="" ma:versionID="cca453acee998ffc78a51b6b1a5e7fc9">
  <xsd:schema xmlns:xsd="http://www.w3.org/2001/XMLSchema" xmlns:xs="http://www.w3.org/2001/XMLSchema" xmlns:p="http://schemas.microsoft.com/office/2006/metadata/properties" xmlns:ns2="d644bbb3-f392-451f-9397-c76fafea8ff2" targetNamespace="http://schemas.microsoft.com/office/2006/metadata/properties" ma:root="true" ma:fieldsID="6d7a561f4b861c2166b45f78ab8355d2" ns2:_="">
    <xsd:import namespace="d644bbb3-f392-451f-9397-c76fafea8ff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44bbb3-f392-451f-9397-c76fafea8f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6449ED7-0402-4549-BE63-64506634C629}"/>
</file>

<file path=customXml/itemProps2.xml><?xml version="1.0" encoding="utf-8"?>
<ds:datastoreItem xmlns:ds="http://schemas.openxmlformats.org/officeDocument/2006/customXml" ds:itemID="{B74F54B4-1094-457A-ACF2-A53BD05705F1}"/>
</file>

<file path=customXml/itemProps3.xml><?xml version="1.0" encoding="utf-8"?>
<ds:datastoreItem xmlns:ds="http://schemas.openxmlformats.org/officeDocument/2006/customXml" ds:itemID="{F161F11E-1188-49E4-A519-E7572B289648}"/>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2026-08-24T23:19:45Z</dcterms:created>
  <dcterms:modified xsi:type="dcterms:W3CDTF">2026-08-24T23:19:45Z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0x0101006BB66CD166328F42A00FF49369C081BB</vt:lpwstr>
  </property>
</Properties>
</file>