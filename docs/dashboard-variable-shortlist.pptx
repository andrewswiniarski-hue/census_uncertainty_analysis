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CV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B26001 group qtrs</c:v>
                  </c:pt>
                  <c:pt idx="1">
                    <c:v>B23025 employment</c:v>
                  </c:pt>
                  <c:pt idx="2">
                    <c:v>B25077 home value</c:v>
                  </c:pt>
                  <c:pt idx="3">
                    <c:v>B25064 median rent</c:v>
                  </c:pt>
                  <c:pt idx="4">
                    <c:v>B19013 median income</c:v>
                  </c:pt>
                  <c:pt idx="5">
                    <c:v>B18101 disability</c:v>
                  </c:pt>
                  <c:pt idx="6">
                    <c:v>B01001 age/sex</c:v>
                  </c:pt>
                  <c:pt idx="7">
                    <c:v>C17002 income:poverty</c:v>
                  </c:pt>
                  <c:pt idx="8">
                    <c:v>B19001 income brackets</c:v>
                  </c:pt>
                  <c:pt idx="9">
                    <c:v>B17001 poverty</c:v>
                  </c:pt>
                  <c:pt idx="10">
                    <c:v>B15003 education</c:v>
                  </c:pt>
                  <c:pt idx="11">
                    <c:v>B25070 rent burden</c:v>
                  </c:pt>
                  <c:pt idx="12">
                    <c:v>B03002 race/ethnicity</c:v>
                  </c:pt>
                  <c:pt idx="13">
                    <c:v>C16001 language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0.023</c:v>
                </c:pt>
                <c:pt idx="1">
                  <c:v>0.028</c:v>
                </c:pt>
                <c:pt idx="2">
                  <c:v>0.035</c:v>
                </c:pt>
                <c:pt idx="3">
                  <c:v>0.039</c:v>
                </c:pt>
                <c:pt idx="4">
                  <c:v>0.042</c:v>
                </c:pt>
                <c:pt idx="5">
                  <c:v>0.049</c:v>
                </c:pt>
                <c:pt idx="6">
                  <c:v>0.113</c:v>
                </c:pt>
                <c:pt idx="7">
                  <c:v>0.138</c:v>
                </c:pt>
                <c:pt idx="8">
                  <c:v>0.159</c:v>
                </c:pt>
                <c:pt idx="9">
                  <c:v>0.177</c:v>
                </c:pt>
                <c:pt idx="10">
                  <c:v>0.213</c:v>
                </c:pt>
                <c:pt idx="11">
                  <c:v>0.254</c:v>
                </c:pt>
                <c:pt idx="12">
                  <c:v>0.263</c:v>
                </c:pt>
                <c:pt idx="13">
                  <c:v>0.495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6"/>
          <c:min val="0"/>
        </c:scaling>
        <c:delete val="0"/>
        <c:axPos val="b"/>
        <c:majorGridlines>
          <c:spPr>
            <a:ln w="6350" cap="flat">
              <a:solidFill>
                <a:srgbClr val="E8ED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8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inputs: Garrett’s user-segment research (SharePoint, now committed) and EDA 14. Everything on the following slides is measured or explicitly flagged as unmeasured.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alone does not decide who we design for — that also depends on whether county data reaches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reframe worth adopting regardless of what else we take from the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failure of the product. It is the honest answer, and it reframes what the product is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91640"/>
            <a:ext cx="8595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Who the dashboard is for,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what goes on it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11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shortlist built by joining the user-segment research to the measured error-bar behavior of the ACS surface.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029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 ·  2026-08-30  ·  Lead decision required, not committed scope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IDs verified against the 2024 acs/acs5 manifest (28,472 names).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measured from EDA 14’s county pull — 3,222 counties, 2024.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tiers, only two of which we design for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1790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1773936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officials + program staff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527048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County-native and threshold-driven. ~74% of counties are 5-year-only; 1,163 CDBG entitlement communities plus 50 states are funded on ACS inputs.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732520" y="15270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the default view: map, reliability card, cutoff check.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587752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7340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299008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data centers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7432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rank 10, reach rank 4. They already answer these questions by hand and write the guidance — force multipliers.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variables. They need the functions, not more topics.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3950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" y="420624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Planners, academics, health indices, MPOs, EJ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251960" y="39593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ranks 1–7 — the best-documented pain in the literature — but all of it below county.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732520" y="3959352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Geography-free functions only: bring-your-own-numbers.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20056"/>
            <a:ext cx="11094415" cy="1097280"/>
          </a:xfrm>
          <a:prstGeom prst="roundRect">
            <a:avLst>
              <a:gd name="adj" fmla="val 5000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51663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9AA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9808" y="5422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251960" y="517550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is documented; need is inferred. No content analysis of newsroom practice exists in either research pass.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732520" y="517550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after the proposed two-week study.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ranks: Garrett Spangler, user-needs research, two passes 2026-08-19 and 2026-08-24.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10607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Built for the county official and the program officer,
</a:t>
            </a:r>
            <a:pPr indent="0" marL="0">
              <a:lnSpc>
                <a:spcPts val="4400"/>
              </a:lnSpc>
              <a:buNone/>
            </a:pPr>
            <a:r>
              <a:rPr lang="en-US" sz="3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opened up to everyone below county</a:t>
            </a:r>
            <a:endParaRPr lang="en-US" sz="3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2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 bring-your-own-numbers.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stops at county. The functions do not have 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WERE PICKED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filters, applied in order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89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3990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scoreable at all?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371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publication floors and jam values. Show controlled cells as certain, real zeros as zeros. ~28% of the sampled surface is structured absence.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22576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225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3317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CV actually vary?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3042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uniformly reliable variable makes a uniformly green map and teaches nothing. We want reliability that changes across places.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55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32644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need special scoring?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236976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follow the size law (R² 0.78). Medians escape it (R² ≤ 0.01). Poverty defies it. They cannot share one path without disclosure.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420624" cy="420624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879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1970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error the MOE misses?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16966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 allocation rate exists and is clean, the variable carries a second uncertainty axis the margin cannot see.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420624" cy="420624"/>
          </a:xfrm>
          <a:prstGeom prst="ellipse">
            <a:avLst/>
          </a:prstGeom>
          <a:solidFill>
            <a:srgbClr val="E8604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20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70432" y="51297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feed a real decision?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10235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or legal consequences, from a named federal program. This is what the user research adds — and what makes the set defensible.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1–4 come from our own EDA work (02, 05, 07, 14). Filter 5 is what the user-segment research contributes.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 — PRIMARY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Eight variables, every one tied to a federal program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3291840"/>
                <a:gridCol w="3200400"/>
                <a:gridCol w="1508760"/>
                <a:gridCol w="18105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it feeds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over 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B19013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 income limits, ARC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B17001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Poverty status by sex by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CDBG, ARC distress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C17002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 of income to poverty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CDBG low/mod, EJScreen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B19001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 income brackets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 income limits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B23025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Employment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 distress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B25070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rent as % of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CHAS, LIHTC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B25064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gross 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HUD fair market rents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B25077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CHAS, LIHTC market studies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30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measured — outside EDA 14’s 100-table sample, verified to exist, needs a pull before it can be quoted:  B19301 per-capita income  ·  B19113 median family income  ·  B25014 overcrowding  ·  B25034 housing age  ·  B25091 / B25106 owner cost burden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 measured across 3,222 counties, 2024, using EDA 14 cell classification and analysis.acs.cv.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SHOULD CHANGE OUR THINKING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Our anchor variable is one of the most reliable</a:t>
            </a:r>
            <a:endParaRPr lang="en-US" sz="27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things in the ACS at county scale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0.042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 for B19013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3,222 counties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0.25%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counties exceed the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 caution convention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945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ADCF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12×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inside our own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F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 (0.042 → 0.495)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776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story is not “county income estimates are shaky.” It is three other things: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3708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35254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collapses as you go DOWN — tract MOEs average 75% larger than the 2000 long form. The documented pain is sub-county, which is why the geography-free functions matter more than the map.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926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59536" y="4974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collapses as you go DETAILED — same counties, same geography: B19013 at 0.042 against C16001 at 0.495. County scale protects totals, not detail.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6144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559612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MOE is not the whole error — household income was allocated at a median 39% per NJ tract, independent of the margin. A green county with 39% imputation is the story only we tell.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SCALE PROTECTS TOTALS, NOT DETAIL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 CV across 3,222 counties, by table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25880"/>
          <a:ext cx="768096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49640" y="132588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78240" y="146304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E860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12×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1945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the most and least reliable variables on this list — at the same geography, in the same counties, in the same release.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549640" y="3611880"/>
            <a:ext cx="310896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78240" y="37673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absence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4069080"/>
            <a:ext cx="2651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C16001 is 37.1% zero estimates and only 62.7% scoreable.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B03002 is 16.0% zero and 12.6% controlled — the most certain cells in the dataset.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CV-only tool renders all three as “missing.”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estimates and controlled cells excluded from CV, per EDA 14 classification precedence.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WARNING IN THE 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statute, two tables, opposite data quality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2880360"/>
          </a:xfrm>
          <a:prstGeom prst="roundRect">
            <a:avLst>
              <a:gd name="adj" fmla="val 1905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B29001 / B29003 / B29004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voting-age population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0.014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median CV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0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reliable family EDA 14 measured anywhere in the ACS.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17320"/>
            <a:ext cx="5212080" cy="2880360"/>
          </a:xfrm>
          <a:prstGeom prst="roundRect">
            <a:avLst>
              <a:gd name="adj" fmla="val 1905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627632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C16001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9202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spoken at home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2860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E8604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0.495</a:t>
            </a:r>
            <a:endParaRPr lang="en-US" sz="5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182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CV  ·  62.7% scoreable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5204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the least reliable. 37.1% of cells are zero estimates.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35× apart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both tables serve Voting Rights Act Section 203 language-assistance determinations. Treating a policy area as one quality bucket is exactly the mistake this dashboard should prevent.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B29 family median from EDA 14 family ranking; C16001 measured directly on the county pull.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REACHABLE AUDIENCE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SVI / ADI stack — county stand-ins for block-group work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37744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CV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over 0.30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B17001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poverty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B15003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high-school diploma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B01001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65+ / under 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B18101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B03002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Minority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C16001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English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B26001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quarters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B25014 / B25044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Crowding, vehicle access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B11003 / B11012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Single-parent households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measured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i="1" dirty="0">
                          <a:solidFill>
                            <a:srgbClr val="5A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35240" y="1371600"/>
            <a:ext cx="4023360" cy="2286000"/>
          </a:xfrm>
          <a:prstGeom prst="roundRect">
            <a:avLst>
              <a:gd name="adj" fmla="val 2400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63840" y="1554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segment matters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87452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and ADI feed CMS payment rules. Block-group home-value MOE averages $105,418 in the lowest-ownership decile. SVI ships MOEs and then ignores them in its ranks.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635240" y="3840480"/>
            <a:ext cx="40233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863840" y="4023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honesty constraint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indices are built at block group. Our county values demonstrate method — they are not substitutes for their data, and the dashboard has to say so.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Affairs 2023; CDC/ATSDR SVI 2022 documentation, via the user-segment research.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Four moves, then three decisions that are yours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35331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eight core variables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33502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audience. Every one traces to a named federal program, and their CVs span 0.028–0.254 — wide enough that the display actually varies.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10312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four measured SVI/ADI tables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08483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B15003, B03002, B18101, B01001 — labeled as county-scale stand-ins for block-group work.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85292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C16001 on as the cautionary case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28346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despite its 0.495 CV but because of it. The cleanest single demonstration of why the tool exists.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60273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unmeasured candidates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358444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tables verified to exist but never sampled. None should reach a report or deck until measured.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526280"/>
            <a:ext cx="11094415" cy="1691640"/>
          </a:xfrm>
          <a:prstGeom prst="roundRect">
            <a:avLst>
              <a:gd name="adj" fmla="val 3243"/>
            </a:avLst>
          </a:prstGeom>
          <a:solidFill>
            <a:srgbClr val="EFF3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this needs from the lead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decision #14 widen?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468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shortlist reaches into housing, education, disability and language. A scope change, and not ours to make.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CV threshold gets named?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5468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“% over 0.30” on these slides moves if the convention changes.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5029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county SVI stand-ins honest enough?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46811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demonstrate method at a geography the index does not use. The alternative is to omit the segment.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34593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 and reproduction steps: docs/dashboard-variable-shortlist.md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Variable Shortlist</dc:title>
  <dc:subject>PptxGenJS Presentation</dc:subject>
  <dc:creator>Census Uncertainty Capstone</dc:creator>
  <cp:lastModifiedBy>Census Uncertainty Capstone</cp:lastModifiedBy>
  <cp:revision>1</cp:revision>
  <dcterms:created xsi:type="dcterms:W3CDTF">2026-09-01T23:36:34Z</dcterms:created>
  <dcterms:modified xsi:type="dcterms:W3CDTF">2026-09-01T23:36:34Z</dcterms:modified>
</cp:coreProperties>
</file>